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sldSz cx="12188825"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523"/>
    <p:restoredTop sz="94716"/>
  </p:normalViewPr>
  <p:slideViewPr>
    <p:cSldViewPr snapToGrid="0" snapToObjects="1">
      <p:cViewPr varScale="1">
        <p:scale>
          <a:sx n="126" d="100"/>
          <a:sy n="126" d="100"/>
        </p:scale>
        <p:origin x="232" y="24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5/8/26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5/8/26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5/8/26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5/8/26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5/8/26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5/8/26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5/8/26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5/8/26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D1117"/>
          </a:solidFill>
          <a:ln>
            <a:solidFill>
              <a:srgbClr val="0D111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182880"/>
            <a:ext cx="1371600" cy="365760"/>
          </a:xfrm>
          <a:prstGeom prst="rect">
            <a:avLst/>
          </a:prstGeom>
          <a:noFill/>
        </p:spPr>
        <p:txBody>
          <a:bodyPr wrap="none">
            <a:spAutoFit/>
          </a:bodyPr>
          <a:lstStyle/>
          <a:p>
            <a:r>
              <a:rPr sz="1000" b="1">
                <a:solidFill>
                  <a:srgbClr val="00E5FF"/>
                </a:solidFill>
              </a:rPr>
              <a:t>  1 / 28  </a:t>
            </a:r>
          </a:p>
        </p:txBody>
      </p:sp>
      <p:sp>
        <p:nvSpPr>
          <p:cNvPr id="4" name="TextBox 3"/>
          <p:cNvSpPr txBox="1"/>
          <p:nvPr/>
        </p:nvSpPr>
        <p:spPr>
          <a:xfrm>
            <a:off x="457200" y="320040"/>
            <a:ext cx="11274552" cy="1005840"/>
          </a:xfrm>
          <a:prstGeom prst="rect">
            <a:avLst/>
          </a:prstGeom>
          <a:noFill/>
        </p:spPr>
        <p:txBody>
          <a:bodyPr wrap="square">
            <a:spAutoFit/>
          </a:bodyPr>
          <a:lstStyle/>
          <a:p>
            <a:pPr algn="l"/>
            <a:r>
              <a:rPr sz="3400" b="1">
                <a:solidFill>
                  <a:srgbClr val="00E5FF"/>
                </a:solidFill>
              </a:rPr>
              <a:t>Zentai Networks: Enterprise Intelligence</a:t>
            </a:r>
          </a:p>
        </p:txBody>
      </p:sp>
      <p:sp>
        <p:nvSpPr>
          <p:cNvPr id="5" name="Rectangle 4"/>
          <p:cNvSpPr/>
          <p:nvPr/>
        </p:nvSpPr>
        <p:spPr>
          <a:xfrm>
            <a:off x="457200" y="1371600"/>
            <a:ext cx="11274552" cy="25400"/>
          </a:xfrm>
          <a:prstGeom prst="rect">
            <a:avLst/>
          </a:prstGeom>
          <a:solidFill>
            <a:srgbClr val="00E5FF"/>
          </a:solidFill>
          <a:ln>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1508760"/>
            <a:ext cx="11274552" cy="2878224"/>
          </a:xfrm>
          <a:prstGeom prst="rect">
            <a:avLst/>
          </a:prstGeom>
          <a:noFill/>
        </p:spPr>
        <p:txBody>
          <a:bodyPr wrap="square">
            <a:spAutoFit/>
          </a:bodyPr>
          <a:lstStyle/>
          <a:p>
            <a:pPr>
              <a:lnSpc>
                <a:spcPct val="300000"/>
              </a:lnSpc>
            </a:pPr>
            <a:r>
              <a:rPr sz="1700" dirty="0">
                <a:solidFill>
                  <a:srgbClr val="E6EDF3"/>
                </a:solidFill>
              </a:rPr>
              <a:t>Engineering a Decision Support System</a:t>
            </a:r>
          </a:p>
          <a:p>
            <a:pPr>
              <a:lnSpc>
                <a:spcPct val="300000"/>
              </a:lnSpc>
            </a:pPr>
            <a:r>
              <a:rPr sz="1700" dirty="0">
                <a:solidFill>
                  <a:srgbClr val="E6EDF3"/>
                </a:solidFill>
              </a:rPr>
              <a:t>A Technical Deep-Dive into the Architecture, Quantitative Algorithms, and Data Pipelines powering the Zentai platform.</a:t>
            </a:r>
          </a:p>
          <a:p>
            <a:pPr>
              <a:lnSpc>
                <a:spcPct val="300000"/>
              </a:lnSpc>
              <a:spcAft>
                <a:spcPts val="400"/>
              </a:spcAft>
            </a:pPr>
            <a:endParaRPr sz="1700" dirty="0">
              <a:solidFill>
                <a:srgbClr val="E6EDF3"/>
              </a:solidFill>
            </a:endParaRPr>
          </a:p>
          <a:p>
            <a:pPr>
              <a:lnSpc>
                <a:spcPct val="300000"/>
              </a:lnSpc>
            </a:pPr>
            <a:r>
              <a:rPr sz="1000" dirty="0">
                <a:solidFill>
                  <a:srgbClr val="21262E"/>
                </a:solidFill>
              </a:rPr>
              <a:t>─────────────────────────────────</a:t>
            </a:r>
          </a:p>
        </p:txBody>
      </p:sp>
      <p:sp>
        <p:nvSpPr>
          <p:cNvPr id="7" name="TextBox 6"/>
          <p:cNvSpPr txBox="1"/>
          <p:nvPr/>
        </p:nvSpPr>
        <p:spPr>
          <a:xfrm>
            <a:off x="8686800" y="6309360"/>
            <a:ext cx="3200400" cy="365760"/>
          </a:xfrm>
          <a:prstGeom prst="rect">
            <a:avLst/>
          </a:prstGeom>
          <a:noFill/>
        </p:spPr>
        <p:txBody>
          <a:bodyPr wrap="none">
            <a:spAutoFit/>
          </a:bodyPr>
          <a:lstStyle/>
          <a:p>
            <a:pPr algn="r"/>
            <a:r>
              <a:rPr sz="900" i="1">
                <a:solidFill>
                  <a:srgbClr val="CCCCCC"/>
                </a:solidFill>
              </a:rPr>
              <a:t>Zentai Networks — Capstone 2025</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D1117"/>
          </a:solidFill>
          <a:ln>
            <a:solidFill>
              <a:srgbClr val="0D111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182880"/>
            <a:ext cx="1371600" cy="365760"/>
          </a:xfrm>
          <a:prstGeom prst="rect">
            <a:avLst/>
          </a:prstGeom>
          <a:noFill/>
        </p:spPr>
        <p:txBody>
          <a:bodyPr wrap="none">
            <a:spAutoFit/>
          </a:bodyPr>
          <a:lstStyle/>
          <a:p>
            <a:r>
              <a:rPr sz="1000" b="1">
                <a:solidFill>
                  <a:srgbClr val="00E5FF"/>
                </a:solidFill>
              </a:rPr>
              <a:t>  2 / 28  </a:t>
            </a:r>
          </a:p>
        </p:txBody>
      </p:sp>
      <p:sp>
        <p:nvSpPr>
          <p:cNvPr id="4" name="TextBox 3"/>
          <p:cNvSpPr txBox="1"/>
          <p:nvPr/>
        </p:nvSpPr>
        <p:spPr>
          <a:xfrm>
            <a:off x="457200" y="320040"/>
            <a:ext cx="11274552" cy="1005840"/>
          </a:xfrm>
          <a:prstGeom prst="rect">
            <a:avLst/>
          </a:prstGeom>
          <a:noFill/>
        </p:spPr>
        <p:txBody>
          <a:bodyPr wrap="square">
            <a:spAutoFit/>
          </a:bodyPr>
          <a:lstStyle/>
          <a:p>
            <a:pPr algn="l"/>
            <a:r>
              <a:rPr sz="3400" b="1">
                <a:solidFill>
                  <a:srgbClr val="00E5FF"/>
                </a:solidFill>
              </a:rPr>
              <a:t>1. The Business Dilemma</a:t>
            </a:r>
          </a:p>
        </p:txBody>
      </p:sp>
      <p:sp>
        <p:nvSpPr>
          <p:cNvPr id="5" name="Rectangle 4"/>
          <p:cNvSpPr/>
          <p:nvPr/>
        </p:nvSpPr>
        <p:spPr>
          <a:xfrm>
            <a:off x="457200" y="1371600"/>
            <a:ext cx="11274552" cy="25400"/>
          </a:xfrm>
          <a:prstGeom prst="rect">
            <a:avLst/>
          </a:prstGeom>
          <a:solidFill>
            <a:srgbClr val="00E5FF"/>
          </a:solidFill>
          <a:ln>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1397000"/>
            <a:ext cx="11274552" cy="5378652"/>
          </a:xfrm>
          <a:prstGeom prst="rect">
            <a:avLst/>
          </a:prstGeom>
          <a:noFill/>
        </p:spPr>
        <p:txBody>
          <a:bodyPr wrap="square">
            <a:spAutoFit/>
          </a:bodyPr>
          <a:lstStyle/>
          <a:p>
            <a:pPr>
              <a:lnSpc>
                <a:spcPct val="300000"/>
              </a:lnSpc>
            </a:pPr>
            <a:r>
              <a:rPr sz="1800" i="1" dirty="0">
                <a:solidFill>
                  <a:srgbClr val="00E5FF"/>
                </a:solidFill>
              </a:rPr>
              <a:t>❝ Executive decision-making is currently hampered by data silos, high latency, and information overload.</a:t>
            </a:r>
          </a:p>
          <a:p>
            <a:pPr>
              <a:lnSpc>
                <a:spcPct val="300000"/>
              </a:lnSpc>
              <a:spcBef>
                <a:spcPts val="400"/>
              </a:spcBef>
            </a:pPr>
            <a:r>
              <a:rPr sz="1600" dirty="0">
                <a:solidFill>
                  <a:srgbClr val="E6EDF3"/>
                </a:solidFill>
              </a:rPr>
              <a:t>• Data Fragmentation: CFOs manually synthesize data across disparate platforms (Bloomberg, Supply Chain Portals, News Aggregators).</a:t>
            </a:r>
            <a:endParaRPr lang="en-US" sz="1600" dirty="0">
              <a:solidFill>
                <a:srgbClr val="E6EDF3"/>
              </a:solidFill>
            </a:endParaRPr>
          </a:p>
          <a:p>
            <a:pPr>
              <a:lnSpc>
                <a:spcPct val="300000"/>
              </a:lnSpc>
              <a:spcBef>
                <a:spcPts val="400"/>
              </a:spcBef>
            </a:pPr>
            <a:r>
              <a:rPr sz="1600" dirty="0">
                <a:solidFill>
                  <a:srgbClr val="E6EDF3"/>
                </a:solidFill>
              </a:rPr>
              <a:t>• Reactive Analysis: Legacy BI tools display static historical data but fail to mathematically project future risk or intrinsic value in real-time.</a:t>
            </a:r>
            <a:endParaRPr lang="en-US" sz="1600" dirty="0">
              <a:solidFill>
                <a:srgbClr val="E6EDF3"/>
              </a:solidFill>
            </a:endParaRPr>
          </a:p>
          <a:p>
            <a:pPr>
              <a:lnSpc>
                <a:spcPct val="300000"/>
              </a:lnSpc>
              <a:spcBef>
                <a:spcPts val="400"/>
              </a:spcBef>
            </a:pPr>
            <a:r>
              <a:rPr sz="1600" dirty="0">
                <a:solidFill>
                  <a:srgbClr val="E6EDF3"/>
                </a:solidFill>
              </a:rPr>
              <a:t>• Decision Paralysis: Providing executives with raw, unformatted data without automated algorithmic synthesis leads to high-latency decision making.</a:t>
            </a:r>
          </a:p>
        </p:txBody>
      </p:sp>
      <p:sp>
        <p:nvSpPr>
          <p:cNvPr id="7" name="TextBox 6"/>
          <p:cNvSpPr txBox="1"/>
          <p:nvPr/>
        </p:nvSpPr>
        <p:spPr>
          <a:xfrm>
            <a:off x="8686800" y="6309360"/>
            <a:ext cx="3200400" cy="365760"/>
          </a:xfrm>
          <a:prstGeom prst="rect">
            <a:avLst/>
          </a:prstGeom>
          <a:noFill/>
        </p:spPr>
        <p:txBody>
          <a:bodyPr wrap="none">
            <a:spAutoFit/>
          </a:bodyPr>
          <a:lstStyle/>
          <a:p>
            <a:pPr algn="r"/>
            <a:r>
              <a:rPr sz="900" i="1">
                <a:solidFill>
                  <a:srgbClr val="CCCCCC"/>
                </a:solidFill>
              </a:rPr>
              <a:t>Zentai Networks — Capstone 2025</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D1117"/>
          </a:solidFill>
          <a:ln>
            <a:solidFill>
              <a:srgbClr val="0D111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182880"/>
            <a:ext cx="1371600" cy="365760"/>
          </a:xfrm>
          <a:prstGeom prst="rect">
            <a:avLst/>
          </a:prstGeom>
          <a:noFill/>
        </p:spPr>
        <p:txBody>
          <a:bodyPr wrap="none">
            <a:spAutoFit/>
          </a:bodyPr>
          <a:lstStyle/>
          <a:p>
            <a:r>
              <a:rPr sz="1000" b="1">
                <a:solidFill>
                  <a:srgbClr val="00E5FF"/>
                </a:solidFill>
              </a:rPr>
              <a:t>  3 / 28  </a:t>
            </a:r>
          </a:p>
        </p:txBody>
      </p:sp>
      <p:sp>
        <p:nvSpPr>
          <p:cNvPr id="4" name="TextBox 3"/>
          <p:cNvSpPr txBox="1"/>
          <p:nvPr/>
        </p:nvSpPr>
        <p:spPr>
          <a:xfrm>
            <a:off x="457200" y="320040"/>
            <a:ext cx="11274552" cy="1005840"/>
          </a:xfrm>
          <a:prstGeom prst="rect">
            <a:avLst/>
          </a:prstGeom>
          <a:noFill/>
        </p:spPr>
        <p:txBody>
          <a:bodyPr wrap="square">
            <a:spAutoFit/>
          </a:bodyPr>
          <a:lstStyle/>
          <a:p>
            <a:pPr algn="l"/>
            <a:r>
              <a:rPr sz="3400" b="1">
                <a:solidFill>
                  <a:srgbClr val="00E5FF"/>
                </a:solidFill>
              </a:rPr>
              <a:t>2. The Engineering Solution</a:t>
            </a:r>
          </a:p>
        </p:txBody>
      </p:sp>
      <p:sp>
        <p:nvSpPr>
          <p:cNvPr id="5" name="Rectangle 4"/>
          <p:cNvSpPr/>
          <p:nvPr/>
        </p:nvSpPr>
        <p:spPr>
          <a:xfrm>
            <a:off x="457200" y="1371600"/>
            <a:ext cx="11274552" cy="25400"/>
          </a:xfrm>
          <a:prstGeom prst="rect">
            <a:avLst/>
          </a:prstGeom>
          <a:solidFill>
            <a:srgbClr val="00E5FF"/>
          </a:solidFill>
          <a:ln>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1508760"/>
            <a:ext cx="11274552" cy="3877856"/>
          </a:xfrm>
          <a:prstGeom prst="rect">
            <a:avLst/>
          </a:prstGeom>
          <a:noFill/>
        </p:spPr>
        <p:txBody>
          <a:bodyPr wrap="square">
            <a:spAutoFit/>
          </a:bodyPr>
          <a:lstStyle/>
          <a:p>
            <a:pPr>
              <a:lnSpc>
                <a:spcPct val="300000"/>
              </a:lnSpc>
            </a:pPr>
            <a:r>
              <a:rPr sz="1700" dirty="0">
                <a:solidFill>
                  <a:srgbClr val="E6EDF3"/>
                </a:solidFill>
              </a:rPr>
              <a:t>Zentai Networks resolves this by aggregating massive datasets into a highly performant, single-pane application.</a:t>
            </a:r>
          </a:p>
          <a:p>
            <a:pPr>
              <a:lnSpc>
                <a:spcPct val="300000"/>
              </a:lnSpc>
            </a:pPr>
            <a:r>
              <a:rPr sz="1700" dirty="0">
                <a:solidFill>
                  <a:srgbClr val="E6EDF3"/>
                </a:solidFill>
              </a:rPr>
              <a:t>Engineering Goal  |  Implementation  </a:t>
            </a:r>
          </a:p>
          <a:p>
            <a:pPr>
              <a:lnSpc>
                <a:spcPct val="300000"/>
              </a:lnSpc>
            </a:pPr>
            <a:r>
              <a:rPr sz="1700" dirty="0">
                <a:solidFill>
                  <a:srgbClr val="E6EDF3"/>
                </a:solidFill>
              </a:rPr>
              <a:t>Data Aggregation  |  Building async pipelines to fetch live tick data and fundamentals via REST APIs.  </a:t>
            </a:r>
          </a:p>
          <a:p>
            <a:pPr>
              <a:lnSpc>
                <a:spcPct val="300000"/>
              </a:lnSpc>
            </a:pPr>
            <a:r>
              <a:rPr sz="1700" dirty="0">
                <a:solidFill>
                  <a:srgbClr val="E6EDF3"/>
                </a:solidFill>
              </a:rPr>
              <a:t>Unified Health Score  |  Engineering algorithms to compress multi-dimensional risk factors into a single scalar metric.  </a:t>
            </a:r>
          </a:p>
          <a:p>
            <a:pPr>
              <a:lnSpc>
                <a:spcPct val="300000"/>
              </a:lnSpc>
            </a:pPr>
            <a:r>
              <a:rPr sz="1700" dirty="0">
                <a:solidFill>
                  <a:srgbClr val="E6EDF3"/>
                </a:solidFill>
              </a:rPr>
              <a:t>Predictive Analytics  |  Implementing quantitative </a:t>
            </a:r>
            <a:r>
              <a:rPr sz="1700" dirty="0" err="1">
                <a:solidFill>
                  <a:srgbClr val="E6EDF3"/>
                </a:solidFill>
              </a:rPr>
              <a:t>backtesting</a:t>
            </a:r>
            <a:r>
              <a:rPr sz="1700" dirty="0">
                <a:solidFill>
                  <a:srgbClr val="E6EDF3"/>
                </a:solidFill>
              </a:rPr>
              <a:t> and statistical pattern recognition engines.  </a:t>
            </a:r>
          </a:p>
        </p:txBody>
      </p:sp>
      <p:sp>
        <p:nvSpPr>
          <p:cNvPr id="7" name="TextBox 6"/>
          <p:cNvSpPr txBox="1"/>
          <p:nvPr/>
        </p:nvSpPr>
        <p:spPr>
          <a:xfrm>
            <a:off x="8686800" y="6309360"/>
            <a:ext cx="3200400" cy="365760"/>
          </a:xfrm>
          <a:prstGeom prst="rect">
            <a:avLst/>
          </a:prstGeom>
          <a:noFill/>
        </p:spPr>
        <p:txBody>
          <a:bodyPr wrap="none">
            <a:spAutoFit/>
          </a:bodyPr>
          <a:lstStyle/>
          <a:p>
            <a:pPr algn="r"/>
            <a:r>
              <a:rPr sz="900" i="1">
                <a:solidFill>
                  <a:srgbClr val="CCCCCC"/>
                </a:solidFill>
              </a:rPr>
              <a:t>Zentai Networks — Capstone 2025</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D1117"/>
          </a:solidFill>
          <a:ln>
            <a:solidFill>
              <a:srgbClr val="0D111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182880"/>
            <a:ext cx="1371600" cy="365760"/>
          </a:xfrm>
          <a:prstGeom prst="rect">
            <a:avLst/>
          </a:prstGeom>
          <a:noFill/>
        </p:spPr>
        <p:txBody>
          <a:bodyPr wrap="none">
            <a:spAutoFit/>
          </a:bodyPr>
          <a:lstStyle/>
          <a:p>
            <a:r>
              <a:rPr sz="1000" b="1">
                <a:solidFill>
                  <a:srgbClr val="00E5FF"/>
                </a:solidFill>
              </a:rPr>
              <a:t>  4 / 28  </a:t>
            </a:r>
          </a:p>
        </p:txBody>
      </p:sp>
      <p:sp>
        <p:nvSpPr>
          <p:cNvPr id="4" name="TextBox 3"/>
          <p:cNvSpPr txBox="1"/>
          <p:nvPr/>
        </p:nvSpPr>
        <p:spPr>
          <a:xfrm>
            <a:off x="457200" y="320040"/>
            <a:ext cx="11274552" cy="1005840"/>
          </a:xfrm>
          <a:prstGeom prst="rect">
            <a:avLst/>
          </a:prstGeom>
          <a:noFill/>
        </p:spPr>
        <p:txBody>
          <a:bodyPr wrap="square">
            <a:spAutoFit/>
          </a:bodyPr>
          <a:lstStyle/>
          <a:p>
            <a:pPr algn="l"/>
            <a:r>
              <a:rPr sz="3400" b="1">
                <a:solidFill>
                  <a:srgbClr val="00E5FF"/>
                </a:solidFill>
              </a:rPr>
              <a:t>3. Software Architecture Overview</a:t>
            </a:r>
          </a:p>
        </p:txBody>
      </p:sp>
      <p:sp>
        <p:nvSpPr>
          <p:cNvPr id="5" name="Rectangle 4"/>
          <p:cNvSpPr/>
          <p:nvPr/>
        </p:nvSpPr>
        <p:spPr>
          <a:xfrm>
            <a:off x="457200" y="1371600"/>
            <a:ext cx="11274552" cy="25400"/>
          </a:xfrm>
          <a:prstGeom prst="rect">
            <a:avLst/>
          </a:prstGeom>
          <a:solidFill>
            <a:srgbClr val="00E5FF"/>
          </a:solidFill>
          <a:ln>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1508760"/>
            <a:ext cx="11274552" cy="3757695"/>
          </a:xfrm>
          <a:prstGeom prst="rect">
            <a:avLst/>
          </a:prstGeom>
          <a:noFill/>
        </p:spPr>
        <p:txBody>
          <a:bodyPr wrap="square">
            <a:spAutoFit/>
          </a:bodyPr>
          <a:lstStyle/>
          <a:p>
            <a:pPr>
              <a:lnSpc>
                <a:spcPct val="300000"/>
              </a:lnSpc>
              <a:spcBef>
                <a:spcPts val="400"/>
              </a:spcBef>
            </a:pPr>
            <a:r>
              <a:rPr sz="1600" dirty="0">
                <a:solidFill>
                  <a:srgbClr val="E6EDF3"/>
                </a:solidFill>
              </a:rPr>
              <a:t>• Pattern: The application utilizes a Modular Monolith architecture.</a:t>
            </a:r>
            <a:endParaRPr lang="en-US" sz="1600" dirty="0">
              <a:solidFill>
                <a:srgbClr val="E6EDF3"/>
              </a:solidFill>
            </a:endParaRPr>
          </a:p>
          <a:p>
            <a:pPr>
              <a:lnSpc>
                <a:spcPct val="300000"/>
              </a:lnSpc>
              <a:spcBef>
                <a:spcPts val="400"/>
              </a:spcBef>
            </a:pPr>
            <a:r>
              <a:rPr sz="1600" dirty="0">
                <a:solidFill>
                  <a:srgbClr val="E6EDF3"/>
                </a:solidFill>
              </a:rPr>
              <a:t>• Separation of Concerns: The system strictly separates the Data Ingestion Layer, the Mathematical Processing Engines, and the Frontend UI rendering.</a:t>
            </a:r>
            <a:endParaRPr lang="en-US" sz="1600" dirty="0">
              <a:solidFill>
                <a:srgbClr val="E6EDF3"/>
              </a:solidFill>
            </a:endParaRPr>
          </a:p>
          <a:p>
            <a:pPr>
              <a:lnSpc>
                <a:spcPct val="300000"/>
              </a:lnSpc>
              <a:spcBef>
                <a:spcPts val="400"/>
              </a:spcBef>
            </a:pPr>
            <a:r>
              <a:rPr sz="1600" dirty="0">
                <a:solidFill>
                  <a:srgbClr val="E6EDF3"/>
                </a:solidFill>
              </a:rPr>
              <a:t>• Why not Microservices?: For a real-time quantitative dashboard, keeping the Pandas </a:t>
            </a:r>
            <a:r>
              <a:rPr sz="1600" dirty="0" err="1">
                <a:solidFill>
                  <a:srgbClr val="E6EDF3"/>
                </a:solidFill>
              </a:rPr>
              <a:t>DataFrames</a:t>
            </a:r>
            <a:r>
              <a:rPr sz="1600" dirty="0">
                <a:solidFill>
                  <a:srgbClr val="E6EDF3"/>
                </a:solidFill>
              </a:rPr>
              <a:t> in shared memory drastically reduces network latency compared to passing massive JSON payloads between microservices.</a:t>
            </a:r>
          </a:p>
        </p:txBody>
      </p:sp>
      <p:sp>
        <p:nvSpPr>
          <p:cNvPr id="7" name="TextBox 6"/>
          <p:cNvSpPr txBox="1"/>
          <p:nvPr/>
        </p:nvSpPr>
        <p:spPr>
          <a:xfrm>
            <a:off x="8686800" y="6309360"/>
            <a:ext cx="3200400" cy="365760"/>
          </a:xfrm>
          <a:prstGeom prst="rect">
            <a:avLst/>
          </a:prstGeom>
          <a:noFill/>
        </p:spPr>
        <p:txBody>
          <a:bodyPr wrap="none">
            <a:spAutoFit/>
          </a:bodyPr>
          <a:lstStyle/>
          <a:p>
            <a:pPr algn="r"/>
            <a:r>
              <a:rPr sz="900" i="1">
                <a:solidFill>
                  <a:srgbClr val="CCCCCC"/>
                </a:solidFill>
              </a:rPr>
              <a:t>Zentai Networks — Capstone 2025</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D1117"/>
          </a:solidFill>
          <a:ln>
            <a:solidFill>
              <a:srgbClr val="0D111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182880"/>
            <a:ext cx="1371600" cy="365760"/>
          </a:xfrm>
          <a:prstGeom prst="rect">
            <a:avLst/>
          </a:prstGeom>
          <a:noFill/>
        </p:spPr>
        <p:txBody>
          <a:bodyPr wrap="none">
            <a:spAutoFit/>
          </a:bodyPr>
          <a:lstStyle/>
          <a:p>
            <a:r>
              <a:rPr sz="1000" b="1">
                <a:solidFill>
                  <a:srgbClr val="00E5FF"/>
                </a:solidFill>
              </a:rPr>
              <a:t>  5 / 28  </a:t>
            </a:r>
          </a:p>
        </p:txBody>
      </p:sp>
      <p:sp>
        <p:nvSpPr>
          <p:cNvPr id="4" name="TextBox 3"/>
          <p:cNvSpPr txBox="1"/>
          <p:nvPr/>
        </p:nvSpPr>
        <p:spPr>
          <a:xfrm>
            <a:off x="457200" y="320040"/>
            <a:ext cx="11274552" cy="1005840"/>
          </a:xfrm>
          <a:prstGeom prst="rect">
            <a:avLst/>
          </a:prstGeom>
          <a:noFill/>
        </p:spPr>
        <p:txBody>
          <a:bodyPr wrap="square">
            <a:spAutoFit/>
          </a:bodyPr>
          <a:lstStyle/>
          <a:p>
            <a:pPr algn="l"/>
            <a:r>
              <a:rPr sz="3400" b="1">
                <a:solidFill>
                  <a:srgbClr val="00E5FF"/>
                </a:solidFill>
              </a:rPr>
              <a:t>4. The Core Tech Stack</a:t>
            </a:r>
          </a:p>
        </p:txBody>
      </p:sp>
      <p:sp>
        <p:nvSpPr>
          <p:cNvPr id="5" name="Rectangle 4"/>
          <p:cNvSpPr/>
          <p:nvPr/>
        </p:nvSpPr>
        <p:spPr>
          <a:xfrm>
            <a:off x="457200" y="1371600"/>
            <a:ext cx="11274552" cy="25400"/>
          </a:xfrm>
          <a:prstGeom prst="rect">
            <a:avLst/>
          </a:prstGeom>
          <a:solidFill>
            <a:srgbClr val="00E5FF"/>
          </a:solidFill>
          <a:ln>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1508760"/>
            <a:ext cx="11274552" cy="2283830"/>
          </a:xfrm>
          <a:prstGeom prst="rect">
            <a:avLst/>
          </a:prstGeom>
          <a:noFill/>
        </p:spPr>
        <p:txBody>
          <a:bodyPr wrap="square">
            <a:spAutoFit/>
          </a:bodyPr>
          <a:lstStyle/>
          <a:p>
            <a:pPr>
              <a:lnSpc>
                <a:spcPct val="300000"/>
              </a:lnSpc>
              <a:spcBef>
                <a:spcPts val="400"/>
              </a:spcBef>
            </a:pPr>
            <a:r>
              <a:rPr sz="1600" dirty="0">
                <a:solidFill>
                  <a:srgbClr val="E6EDF3"/>
                </a:solidFill>
              </a:rPr>
              <a:t>• 🐍 Language &amp; Core</a:t>
            </a:r>
            <a:r>
              <a:rPr lang="en-US" sz="1600" dirty="0">
                <a:solidFill>
                  <a:srgbClr val="E6EDF3"/>
                </a:solidFill>
              </a:rPr>
              <a:t>: </a:t>
            </a:r>
            <a:r>
              <a:rPr sz="1600" dirty="0">
                <a:solidFill>
                  <a:srgbClr val="E6EDF3"/>
                </a:solidFill>
              </a:rPr>
              <a:t> </a:t>
            </a:r>
            <a:r>
              <a:rPr lang="en-US" sz="1600" dirty="0">
                <a:solidFill>
                  <a:srgbClr val="E6EDF3"/>
                </a:solidFill>
              </a:rPr>
              <a:t>P</a:t>
            </a:r>
            <a:r>
              <a:rPr sz="1600" dirty="0">
                <a:solidFill>
                  <a:srgbClr val="E6EDF3"/>
                </a:solidFill>
              </a:rPr>
              <a:t>ython 3.12</a:t>
            </a:r>
            <a:r>
              <a:rPr lang="en-US" sz="1600" dirty="0">
                <a:solidFill>
                  <a:srgbClr val="E6EDF3"/>
                </a:solidFill>
              </a:rPr>
              <a:t>,</a:t>
            </a:r>
            <a:r>
              <a:rPr sz="1600" dirty="0">
                <a:solidFill>
                  <a:srgbClr val="E6EDF3"/>
                </a:solidFill>
              </a:rPr>
              <a:t> Object-Oriented Design</a:t>
            </a:r>
          </a:p>
          <a:p>
            <a:pPr>
              <a:lnSpc>
                <a:spcPct val="300000"/>
              </a:lnSpc>
              <a:spcBef>
                <a:spcPts val="400"/>
              </a:spcBef>
            </a:pPr>
            <a:r>
              <a:rPr sz="1600" dirty="0">
                <a:solidFill>
                  <a:srgbClr val="E6EDF3"/>
                </a:solidFill>
              </a:rPr>
              <a:t>• ⚙️ Backend Data Science</a:t>
            </a:r>
            <a:r>
              <a:rPr lang="en-US" sz="1600" dirty="0">
                <a:solidFill>
                  <a:srgbClr val="E6EDF3"/>
                </a:solidFill>
              </a:rPr>
              <a:t>:</a:t>
            </a:r>
            <a:r>
              <a:rPr sz="1600" dirty="0">
                <a:solidFill>
                  <a:srgbClr val="E6EDF3"/>
                </a:solidFill>
              </a:rPr>
              <a:t> Pandas (</a:t>
            </a:r>
            <a:r>
              <a:rPr sz="1600" dirty="0" err="1">
                <a:solidFill>
                  <a:srgbClr val="E6EDF3"/>
                </a:solidFill>
              </a:rPr>
              <a:t>DataFrames</a:t>
            </a:r>
            <a:r>
              <a:rPr sz="1600" dirty="0">
                <a:solidFill>
                  <a:srgbClr val="E6EDF3"/>
                </a:solidFill>
              </a:rPr>
              <a:t>)</a:t>
            </a:r>
            <a:r>
              <a:rPr lang="en-US" sz="1600" dirty="0">
                <a:solidFill>
                  <a:srgbClr val="E6EDF3"/>
                </a:solidFill>
              </a:rPr>
              <a:t>,</a:t>
            </a:r>
            <a:r>
              <a:rPr sz="1600" dirty="0">
                <a:solidFill>
                  <a:srgbClr val="E6EDF3"/>
                </a:solidFill>
              </a:rPr>
              <a:t> NumPy (Linear Algebra)• SciPy (Statistics)</a:t>
            </a:r>
          </a:p>
          <a:p>
            <a:pPr>
              <a:lnSpc>
                <a:spcPct val="300000"/>
              </a:lnSpc>
              <a:spcBef>
                <a:spcPts val="400"/>
              </a:spcBef>
            </a:pPr>
            <a:r>
              <a:rPr sz="1600" dirty="0">
                <a:solidFill>
                  <a:srgbClr val="E6EDF3"/>
                </a:solidFill>
              </a:rPr>
              <a:t>• 🖥️ Frontend &amp; UI</a:t>
            </a:r>
            <a:r>
              <a:rPr lang="en-US" sz="1600" dirty="0">
                <a:solidFill>
                  <a:srgbClr val="E6EDF3"/>
                </a:solidFill>
              </a:rPr>
              <a:t>:</a:t>
            </a:r>
            <a:r>
              <a:rPr sz="1600" dirty="0">
                <a:solidFill>
                  <a:srgbClr val="E6EDF3"/>
                </a:solidFill>
              </a:rPr>
              <a:t> </a:t>
            </a:r>
            <a:r>
              <a:rPr sz="1600" dirty="0" err="1">
                <a:solidFill>
                  <a:srgbClr val="E6EDF3"/>
                </a:solidFill>
              </a:rPr>
              <a:t>Streamlit</a:t>
            </a:r>
            <a:r>
              <a:rPr sz="1600" dirty="0">
                <a:solidFill>
                  <a:srgbClr val="E6EDF3"/>
                </a:solidFill>
              </a:rPr>
              <a:t> (Native Rendering)</a:t>
            </a:r>
            <a:r>
              <a:rPr lang="en-US" sz="1600" dirty="0">
                <a:solidFill>
                  <a:srgbClr val="E6EDF3"/>
                </a:solidFill>
              </a:rPr>
              <a:t>,</a:t>
            </a:r>
            <a:r>
              <a:rPr sz="1600" dirty="0">
                <a:solidFill>
                  <a:srgbClr val="E6EDF3"/>
                </a:solidFill>
              </a:rPr>
              <a:t> Plotly (WebGL Charts)</a:t>
            </a:r>
            <a:r>
              <a:rPr lang="en-US" sz="1600" dirty="0">
                <a:solidFill>
                  <a:srgbClr val="E6EDF3"/>
                </a:solidFill>
              </a:rPr>
              <a:t>,</a:t>
            </a:r>
            <a:r>
              <a:rPr sz="1600" dirty="0">
                <a:solidFill>
                  <a:srgbClr val="E6EDF3"/>
                </a:solidFill>
              </a:rPr>
              <a:t> Custom CSS Keyframes</a:t>
            </a:r>
          </a:p>
        </p:txBody>
      </p:sp>
      <p:sp>
        <p:nvSpPr>
          <p:cNvPr id="7" name="TextBox 6"/>
          <p:cNvSpPr txBox="1"/>
          <p:nvPr/>
        </p:nvSpPr>
        <p:spPr>
          <a:xfrm>
            <a:off x="8686800" y="6309360"/>
            <a:ext cx="3200400" cy="365760"/>
          </a:xfrm>
          <a:prstGeom prst="rect">
            <a:avLst/>
          </a:prstGeom>
          <a:noFill/>
        </p:spPr>
        <p:txBody>
          <a:bodyPr wrap="none">
            <a:spAutoFit/>
          </a:bodyPr>
          <a:lstStyle/>
          <a:p>
            <a:pPr algn="r"/>
            <a:r>
              <a:rPr sz="900" i="1">
                <a:solidFill>
                  <a:srgbClr val="CCCCCC"/>
                </a:solidFill>
              </a:rPr>
              <a:t>Zentai Networks — Capstone 2025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D1117"/>
          </a:solidFill>
          <a:ln>
            <a:solidFill>
              <a:srgbClr val="0D111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182880"/>
            <a:ext cx="1371600" cy="365760"/>
          </a:xfrm>
          <a:prstGeom prst="rect">
            <a:avLst/>
          </a:prstGeom>
          <a:noFill/>
        </p:spPr>
        <p:txBody>
          <a:bodyPr wrap="none">
            <a:spAutoFit/>
          </a:bodyPr>
          <a:lstStyle/>
          <a:p>
            <a:r>
              <a:rPr sz="1000" b="1">
                <a:solidFill>
                  <a:srgbClr val="00E5FF"/>
                </a:solidFill>
              </a:rPr>
              <a:t>  6 / 28  </a:t>
            </a:r>
          </a:p>
        </p:txBody>
      </p:sp>
      <p:sp>
        <p:nvSpPr>
          <p:cNvPr id="4" name="TextBox 3"/>
          <p:cNvSpPr txBox="1"/>
          <p:nvPr/>
        </p:nvSpPr>
        <p:spPr>
          <a:xfrm>
            <a:off x="457200" y="320040"/>
            <a:ext cx="11274552" cy="1005840"/>
          </a:xfrm>
          <a:prstGeom prst="rect">
            <a:avLst/>
          </a:prstGeom>
          <a:noFill/>
        </p:spPr>
        <p:txBody>
          <a:bodyPr wrap="square">
            <a:spAutoFit/>
          </a:bodyPr>
          <a:lstStyle/>
          <a:p>
            <a:pPr algn="l"/>
            <a:r>
              <a:rPr sz="3400" b="1">
                <a:solidFill>
                  <a:srgbClr val="00E5FF"/>
                </a:solidFill>
              </a:rPr>
              <a:t>5. Data Ingestion &amp; Pipeline Handling</a:t>
            </a:r>
          </a:p>
        </p:txBody>
      </p:sp>
      <p:sp>
        <p:nvSpPr>
          <p:cNvPr id="5" name="Rectangle 4"/>
          <p:cNvSpPr/>
          <p:nvPr/>
        </p:nvSpPr>
        <p:spPr>
          <a:xfrm>
            <a:off x="457200" y="1371600"/>
            <a:ext cx="11274552" cy="25400"/>
          </a:xfrm>
          <a:prstGeom prst="rect">
            <a:avLst/>
          </a:prstGeom>
          <a:solidFill>
            <a:srgbClr val="00E5FF"/>
          </a:solidFill>
          <a:ln>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1508760"/>
            <a:ext cx="11274552" cy="2280368"/>
          </a:xfrm>
          <a:prstGeom prst="rect">
            <a:avLst/>
          </a:prstGeom>
          <a:noFill/>
        </p:spPr>
        <p:txBody>
          <a:bodyPr wrap="square">
            <a:spAutoFit/>
          </a:bodyPr>
          <a:lstStyle/>
          <a:p>
            <a:pPr>
              <a:lnSpc>
                <a:spcPct val="300000"/>
              </a:lnSpc>
              <a:spcBef>
                <a:spcPts val="400"/>
              </a:spcBef>
            </a:pPr>
            <a:r>
              <a:rPr sz="1600" dirty="0">
                <a:solidFill>
                  <a:srgbClr val="E6EDF3"/>
                </a:solidFill>
              </a:rPr>
              <a:t>• The Source: We rely on the `</a:t>
            </a:r>
            <a:r>
              <a:rPr sz="1600" dirty="0" err="1">
                <a:solidFill>
                  <a:srgbClr val="E6EDF3"/>
                </a:solidFill>
              </a:rPr>
              <a:t>yfinance</a:t>
            </a:r>
            <a:r>
              <a:rPr sz="1600" dirty="0">
                <a:solidFill>
                  <a:srgbClr val="E6EDF3"/>
                </a:solidFill>
              </a:rPr>
              <a:t>` library to hook directly into Yahoo Finance's live REST APIs.</a:t>
            </a:r>
            <a:endParaRPr lang="en-US" sz="1600" dirty="0">
              <a:solidFill>
                <a:srgbClr val="E6EDF3"/>
              </a:solidFill>
            </a:endParaRPr>
          </a:p>
          <a:p>
            <a:pPr>
              <a:lnSpc>
                <a:spcPct val="300000"/>
              </a:lnSpc>
              <a:spcBef>
                <a:spcPts val="400"/>
              </a:spcBef>
            </a:pPr>
            <a:r>
              <a:rPr sz="1600" dirty="0">
                <a:solidFill>
                  <a:srgbClr val="E6EDF3"/>
                </a:solidFill>
              </a:rPr>
              <a:t>• Data Formatting: Raw JSON responses are instantly cast into Pandas </a:t>
            </a:r>
            <a:r>
              <a:rPr sz="1600" dirty="0" err="1">
                <a:solidFill>
                  <a:srgbClr val="E6EDF3"/>
                </a:solidFill>
              </a:rPr>
              <a:t>DataFrames</a:t>
            </a:r>
            <a:r>
              <a:rPr sz="1600" dirty="0">
                <a:solidFill>
                  <a:srgbClr val="E6EDF3"/>
                </a:solidFill>
              </a:rPr>
              <a:t> for highly efficient, vectorized operations.</a:t>
            </a:r>
            <a:endParaRPr lang="en-US" sz="1600" dirty="0">
              <a:solidFill>
                <a:srgbClr val="E6EDF3"/>
              </a:solidFill>
            </a:endParaRPr>
          </a:p>
          <a:p>
            <a:pPr>
              <a:lnSpc>
                <a:spcPct val="300000"/>
              </a:lnSpc>
              <a:spcBef>
                <a:spcPts val="400"/>
              </a:spcBef>
            </a:pPr>
            <a:r>
              <a:rPr sz="1600" dirty="0">
                <a:solidFill>
                  <a:srgbClr val="E6EDF3"/>
                </a:solidFill>
              </a:rPr>
              <a:t>• Error Handling: Robust try/except blocks and `</a:t>
            </a:r>
            <a:r>
              <a:rPr sz="1600" dirty="0" err="1">
                <a:solidFill>
                  <a:srgbClr val="E6EDF3"/>
                </a:solidFill>
              </a:rPr>
              <a:t>NaN</a:t>
            </a:r>
            <a:r>
              <a:rPr sz="1600" dirty="0">
                <a:solidFill>
                  <a:srgbClr val="E6EDF3"/>
                </a:solidFill>
              </a:rPr>
              <a:t>` propagation handling ensure the UI never crashes due to missing remote data.</a:t>
            </a:r>
          </a:p>
        </p:txBody>
      </p:sp>
      <p:sp>
        <p:nvSpPr>
          <p:cNvPr id="7" name="TextBox 6"/>
          <p:cNvSpPr txBox="1"/>
          <p:nvPr/>
        </p:nvSpPr>
        <p:spPr>
          <a:xfrm>
            <a:off x="8686800" y="6309360"/>
            <a:ext cx="3200400" cy="365760"/>
          </a:xfrm>
          <a:prstGeom prst="rect">
            <a:avLst/>
          </a:prstGeom>
          <a:noFill/>
        </p:spPr>
        <p:txBody>
          <a:bodyPr wrap="none">
            <a:spAutoFit/>
          </a:bodyPr>
          <a:lstStyle/>
          <a:p>
            <a:pPr algn="r"/>
            <a:r>
              <a:rPr sz="900" i="1">
                <a:solidFill>
                  <a:srgbClr val="CCCCCC"/>
                </a:solidFill>
              </a:rPr>
              <a:t>Zentai Networks — Capstone 2025</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182880"/>
            <a:ext cx="12188952" cy="6858000"/>
          </a:xfrm>
          <a:prstGeom prst="rect">
            <a:avLst/>
          </a:prstGeom>
          <a:solidFill>
            <a:srgbClr val="0D1117"/>
          </a:solidFill>
          <a:ln>
            <a:solidFill>
              <a:srgbClr val="0D111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182880"/>
            <a:ext cx="1371600" cy="365760"/>
          </a:xfrm>
          <a:prstGeom prst="rect">
            <a:avLst/>
          </a:prstGeom>
          <a:noFill/>
        </p:spPr>
        <p:txBody>
          <a:bodyPr wrap="none">
            <a:spAutoFit/>
          </a:bodyPr>
          <a:lstStyle/>
          <a:p>
            <a:r>
              <a:rPr sz="1000" b="1">
                <a:solidFill>
                  <a:srgbClr val="00E5FF"/>
                </a:solidFill>
              </a:rPr>
              <a:t>  7 / 28  </a:t>
            </a:r>
          </a:p>
        </p:txBody>
      </p:sp>
      <p:sp>
        <p:nvSpPr>
          <p:cNvPr id="4" name="TextBox 3"/>
          <p:cNvSpPr txBox="1"/>
          <p:nvPr/>
        </p:nvSpPr>
        <p:spPr>
          <a:xfrm>
            <a:off x="457200" y="320040"/>
            <a:ext cx="11274552" cy="1005840"/>
          </a:xfrm>
          <a:prstGeom prst="rect">
            <a:avLst/>
          </a:prstGeom>
          <a:noFill/>
        </p:spPr>
        <p:txBody>
          <a:bodyPr wrap="square">
            <a:spAutoFit/>
          </a:bodyPr>
          <a:lstStyle/>
          <a:p>
            <a:pPr algn="l"/>
            <a:r>
              <a:rPr sz="3400" b="1">
                <a:solidFill>
                  <a:srgbClr val="00E5FF"/>
                </a:solidFill>
              </a:rPr>
              <a:t>6. Frontend Engineering (UI/UX)</a:t>
            </a:r>
          </a:p>
        </p:txBody>
      </p:sp>
      <p:sp>
        <p:nvSpPr>
          <p:cNvPr id="5" name="Rectangle 4"/>
          <p:cNvSpPr/>
          <p:nvPr/>
        </p:nvSpPr>
        <p:spPr>
          <a:xfrm>
            <a:off x="457200" y="1371600"/>
            <a:ext cx="11274552" cy="25400"/>
          </a:xfrm>
          <a:prstGeom prst="rect">
            <a:avLst/>
          </a:prstGeom>
          <a:solidFill>
            <a:srgbClr val="00E5FF"/>
          </a:solidFill>
          <a:ln>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1508760"/>
            <a:ext cx="11274552" cy="3757695"/>
          </a:xfrm>
          <a:prstGeom prst="rect">
            <a:avLst/>
          </a:prstGeom>
          <a:noFill/>
        </p:spPr>
        <p:txBody>
          <a:bodyPr wrap="square">
            <a:spAutoFit/>
          </a:bodyPr>
          <a:lstStyle/>
          <a:p>
            <a:pPr>
              <a:lnSpc>
                <a:spcPct val="300000"/>
              </a:lnSpc>
              <a:spcBef>
                <a:spcPts val="400"/>
              </a:spcBef>
            </a:pPr>
            <a:r>
              <a:rPr sz="1600" dirty="0">
                <a:solidFill>
                  <a:srgbClr val="E6EDF3"/>
                </a:solidFill>
              </a:rPr>
              <a:t>• </a:t>
            </a:r>
            <a:r>
              <a:rPr sz="1600" dirty="0" err="1">
                <a:solidFill>
                  <a:srgbClr val="E6EDF3"/>
                </a:solidFill>
              </a:rPr>
              <a:t>Streamlit</a:t>
            </a:r>
            <a:r>
              <a:rPr sz="1600" dirty="0">
                <a:solidFill>
                  <a:srgbClr val="E6EDF3"/>
                </a:solidFill>
              </a:rPr>
              <a:t> Rendering: We utilize </a:t>
            </a:r>
            <a:r>
              <a:rPr sz="1600" dirty="0" err="1">
                <a:solidFill>
                  <a:srgbClr val="E6EDF3"/>
                </a:solidFill>
              </a:rPr>
              <a:t>Streamlit</a:t>
            </a:r>
            <a:r>
              <a:rPr sz="1600" dirty="0">
                <a:solidFill>
                  <a:srgbClr val="E6EDF3"/>
                </a:solidFill>
              </a:rPr>
              <a:t> to generate the React frontend entirely via Python, vastly accelerating development speed.</a:t>
            </a:r>
            <a:endParaRPr lang="en-US" sz="1600" dirty="0">
              <a:solidFill>
                <a:srgbClr val="E6EDF3"/>
              </a:solidFill>
            </a:endParaRPr>
          </a:p>
          <a:p>
            <a:pPr>
              <a:lnSpc>
                <a:spcPct val="300000"/>
              </a:lnSpc>
              <a:spcBef>
                <a:spcPts val="400"/>
              </a:spcBef>
            </a:pPr>
            <a:r>
              <a:rPr sz="1600" dirty="0">
                <a:solidFill>
                  <a:srgbClr val="E6EDF3"/>
                </a:solidFill>
              </a:rPr>
              <a:t>• State Management: We heavily utilize `</a:t>
            </a:r>
            <a:r>
              <a:rPr sz="1600" dirty="0" err="1">
                <a:solidFill>
                  <a:srgbClr val="E6EDF3"/>
                </a:solidFill>
              </a:rPr>
              <a:t>st.session_state</a:t>
            </a:r>
            <a:r>
              <a:rPr sz="1600" dirty="0">
                <a:solidFill>
                  <a:srgbClr val="E6EDF3"/>
                </a:solidFill>
              </a:rPr>
              <a:t>` to persist variables (like this exact presentation slide index) across browser reruns.</a:t>
            </a:r>
            <a:endParaRPr lang="en-US" sz="1600" dirty="0">
              <a:solidFill>
                <a:srgbClr val="E6EDF3"/>
              </a:solidFill>
            </a:endParaRPr>
          </a:p>
          <a:p>
            <a:pPr>
              <a:lnSpc>
                <a:spcPct val="300000"/>
              </a:lnSpc>
              <a:spcBef>
                <a:spcPts val="400"/>
              </a:spcBef>
            </a:pPr>
            <a:r>
              <a:rPr sz="1600" dirty="0">
                <a:solidFill>
                  <a:srgbClr val="E6EDF3"/>
                </a:solidFill>
              </a:rPr>
              <a:t>• Cyberpunk Aesthetics: We inject custom CSS to override </a:t>
            </a:r>
            <a:r>
              <a:rPr sz="1600" dirty="0" err="1">
                <a:solidFill>
                  <a:srgbClr val="E6EDF3"/>
                </a:solidFill>
              </a:rPr>
              <a:t>Streamlit's</a:t>
            </a:r>
            <a:r>
              <a:rPr sz="1600" dirty="0">
                <a:solidFill>
                  <a:srgbClr val="E6EDF3"/>
                </a:solidFill>
              </a:rPr>
              <a:t> default DOM, implementing </a:t>
            </a:r>
            <a:r>
              <a:rPr sz="1600" dirty="0" err="1">
                <a:solidFill>
                  <a:srgbClr val="E6EDF3"/>
                </a:solidFill>
              </a:rPr>
              <a:t>Glassmorphism</a:t>
            </a:r>
            <a:r>
              <a:rPr sz="1600" dirty="0">
                <a:solidFill>
                  <a:srgbClr val="E6EDF3"/>
                </a:solidFill>
              </a:rPr>
              <a:t> (`</a:t>
            </a:r>
            <a:r>
              <a:rPr sz="1600" dirty="0" err="1">
                <a:solidFill>
                  <a:srgbClr val="E6EDF3"/>
                </a:solidFill>
              </a:rPr>
              <a:t>rgba</a:t>
            </a:r>
            <a:r>
              <a:rPr sz="1600" dirty="0">
                <a:solidFill>
                  <a:srgbClr val="E6EDF3"/>
                </a:solidFill>
              </a:rPr>
              <a:t>` backgrounds, backdrop-blur) and smooth keyframe animations.</a:t>
            </a:r>
          </a:p>
        </p:txBody>
      </p:sp>
      <p:sp>
        <p:nvSpPr>
          <p:cNvPr id="7" name="TextBox 6"/>
          <p:cNvSpPr txBox="1"/>
          <p:nvPr/>
        </p:nvSpPr>
        <p:spPr>
          <a:xfrm>
            <a:off x="8686800" y="6309360"/>
            <a:ext cx="3200400" cy="365760"/>
          </a:xfrm>
          <a:prstGeom prst="rect">
            <a:avLst/>
          </a:prstGeom>
          <a:noFill/>
        </p:spPr>
        <p:txBody>
          <a:bodyPr wrap="none">
            <a:spAutoFit/>
          </a:bodyPr>
          <a:lstStyle/>
          <a:p>
            <a:pPr algn="r"/>
            <a:r>
              <a:rPr sz="900" i="1">
                <a:solidFill>
                  <a:srgbClr val="CCCCCC"/>
                </a:solidFill>
              </a:rPr>
              <a:t>Zentai Networks — Capstone 2025</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D1117"/>
          </a:solidFill>
          <a:ln>
            <a:solidFill>
              <a:srgbClr val="0D111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182880"/>
            <a:ext cx="1371600" cy="365760"/>
          </a:xfrm>
          <a:prstGeom prst="rect">
            <a:avLst/>
          </a:prstGeom>
          <a:noFill/>
        </p:spPr>
        <p:txBody>
          <a:bodyPr wrap="none">
            <a:spAutoFit/>
          </a:bodyPr>
          <a:lstStyle/>
          <a:p>
            <a:r>
              <a:rPr sz="1000" b="1">
                <a:solidFill>
                  <a:srgbClr val="00E5FF"/>
                </a:solidFill>
              </a:rPr>
              <a:t>  8 / 28  </a:t>
            </a:r>
          </a:p>
        </p:txBody>
      </p:sp>
      <p:sp>
        <p:nvSpPr>
          <p:cNvPr id="4" name="TextBox 3"/>
          <p:cNvSpPr txBox="1"/>
          <p:nvPr/>
        </p:nvSpPr>
        <p:spPr>
          <a:xfrm>
            <a:off x="457200" y="320040"/>
            <a:ext cx="11274552" cy="1005840"/>
          </a:xfrm>
          <a:prstGeom prst="rect">
            <a:avLst/>
          </a:prstGeom>
          <a:noFill/>
        </p:spPr>
        <p:txBody>
          <a:bodyPr wrap="square">
            <a:spAutoFit/>
          </a:bodyPr>
          <a:lstStyle/>
          <a:p>
            <a:pPr algn="l"/>
            <a:r>
              <a:rPr sz="3400" b="1">
                <a:solidFill>
                  <a:srgbClr val="00E5FF"/>
                </a:solidFill>
              </a:rPr>
              <a:t>7. System Entity Mapping</a:t>
            </a:r>
          </a:p>
        </p:txBody>
      </p:sp>
      <p:sp>
        <p:nvSpPr>
          <p:cNvPr id="5" name="Rectangle 4"/>
          <p:cNvSpPr/>
          <p:nvPr/>
        </p:nvSpPr>
        <p:spPr>
          <a:xfrm>
            <a:off x="457200" y="1371600"/>
            <a:ext cx="11274552" cy="25400"/>
          </a:xfrm>
          <a:prstGeom prst="rect">
            <a:avLst/>
          </a:prstGeom>
          <a:solidFill>
            <a:srgbClr val="00E5FF"/>
          </a:solidFill>
          <a:ln>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1508760"/>
            <a:ext cx="11274552" cy="3223318"/>
          </a:xfrm>
          <a:prstGeom prst="rect">
            <a:avLst/>
          </a:prstGeom>
          <a:noFill/>
        </p:spPr>
        <p:txBody>
          <a:bodyPr wrap="square">
            <a:spAutoFit/>
          </a:bodyPr>
          <a:lstStyle/>
          <a:p>
            <a:pPr>
              <a:lnSpc>
                <a:spcPct val="300000"/>
              </a:lnSpc>
            </a:pPr>
            <a:r>
              <a:rPr sz="1700" dirty="0">
                <a:solidFill>
                  <a:srgbClr val="E6EDF3"/>
                </a:solidFill>
              </a:rPr>
              <a:t>To ensure O(1) lookup times across all 8 modules, the entire application relies on a single source of truth:</a:t>
            </a:r>
          </a:p>
          <a:p>
            <a:pPr>
              <a:lnSpc>
                <a:spcPct val="300000"/>
              </a:lnSpc>
            </a:pPr>
            <a:r>
              <a:rPr sz="1800" i="1" dirty="0">
                <a:solidFill>
                  <a:srgbClr val="00E5FF"/>
                </a:solidFill>
              </a:rPr>
              <a:t>❝ `COMPANY_MAP` is a static Python dictionary mapping exact ticker symbols to their industries, geographical supply chain nodes, and AI context parameters. This guarantees that if we add a new company, the entire system instantly adapts without code duplication.</a:t>
            </a:r>
          </a:p>
        </p:txBody>
      </p:sp>
      <p:sp>
        <p:nvSpPr>
          <p:cNvPr id="7" name="TextBox 6"/>
          <p:cNvSpPr txBox="1"/>
          <p:nvPr/>
        </p:nvSpPr>
        <p:spPr>
          <a:xfrm>
            <a:off x="8686800" y="6309360"/>
            <a:ext cx="3200400" cy="365760"/>
          </a:xfrm>
          <a:prstGeom prst="rect">
            <a:avLst/>
          </a:prstGeom>
          <a:noFill/>
        </p:spPr>
        <p:txBody>
          <a:bodyPr wrap="none">
            <a:spAutoFit/>
          </a:bodyPr>
          <a:lstStyle/>
          <a:p>
            <a:pPr algn="r"/>
            <a:r>
              <a:rPr sz="900" i="1">
                <a:solidFill>
                  <a:srgbClr val="CCCCCC"/>
                </a:solidFill>
              </a:rPr>
              <a:t>Zentai Networks — Capstone 2025</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D1117"/>
          </a:solidFill>
          <a:ln>
            <a:solidFill>
              <a:srgbClr val="0D111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182880"/>
            <a:ext cx="1371600" cy="365760"/>
          </a:xfrm>
          <a:prstGeom prst="rect">
            <a:avLst/>
          </a:prstGeom>
          <a:noFill/>
        </p:spPr>
        <p:txBody>
          <a:bodyPr wrap="none">
            <a:spAutoFit/>
          </a:bodyPr>
          <a:lstStyle/>
          <a:p>
            <a:r>
              <a:rPr sz="1000" b="1">
                <a:solidFill>
                  <a:srgbClr val="00E5FF"/>
                </a:solidFill>
              </a:rPr>
              <a:t>  9 / 28  </a:t>
            </a:r>
          </a:p>
        </p:txBody>
      </p:sp>
      <p:sp>
        <p:nvSpPr>
          <p:cNvPr id="4" name="TextBox 3"/>
          <p:cNvSpPr txBox="1"/>
          <p:nvPr/>
        </p:nvSpPr>
        <p:spPr>
          <a:xfrm>
            <a:off x="457200" y="320040"/>
            <a:ext cx="11274552" cy="1005840"/>
          </a:xfrm>
          <a:prstGeom prst="rect">
            <a:avLst/>
          </a:prstGeom>
          <a:noFill/>
        </p:spPr>
        <p:txBody>
          <a:bodyPr wrap="square">
            <a:spAutoFit/>
          </a:bodyPr>
          <a:lstStyle/>
          <a:p>
            <a:pPr algn="l"/>
            <a:r>
              <a:rPr sz="3400" b="1">
                <a:solidFill>
                  <a:srgbClr val="00E5FF"/>
                </a:solidFill>
              </a:rPr>
              <a:t>8. Engine 1: AI Risk Directive</a:t>
            </a:r>
          </a:p>
        </p:txBody>
      </p:sp>
      <p:sp>
        <p:nvSpPr>
          <p:cNvPr id="5" name="Rectangle 4"/>
          <p:cNvSpPr/>
          <p:nvPr/>
        </p:nvSpPr>
        <p:spPr>
          <a:xfrm>
            <a:off x="457200" y="1371600"/>
            <a:ext cx="11274552" cy="25400"/>
          </a:xfrm>
          <a:prstGeom prst="rect">
            <a:avLst/>
          </a:prstGeom>
          <a:solidFill>
            <a:srgbClr val="00E5FF"/>
          </a:solidFill>
          <a:ln>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1508760"/>
            <a:ext cx="11274552" cy="3116494"/>
          </a:xfrm>
          <a:prstGeom prst="rect">
            <a:avLst/>
          </a:prstGeom>
          <a:noFill/>
        </p:spPr>
        <p:txBody>
          <a:bodyPr wrap="square">
            <a:spAutoFit/>
          </a:bodyPr>
          <a:lstStyle/>
          <a:p>
            <a:pPr>
              <a:lnSpc>
                <a:spcPct val="300000"/>
              </a:lnSpc>
            </a:pPr>
            <a:r>
              <a:rPr sz="1700" dirty="0">
                <a:solidFill>
                  <a:srgbClr val="E6EDF3"/>
                </a:solidFill>
              </a:rPr>
              <a:t>This engine calculates the Unified Business Health Score by mathematically aggregating three distinct vectors:</a:t>
            </a:r>
          </a:p>
          <a:p>
            <a:pPr>
              <a:lnSpc>
                <a:spcPct val="300000"/>
              </a:lnSpc>
              <a:spcBef>
                <a:spcPts val="400"/>
              </a:spcBef>
            </a:pPr>
            <a:r>
              <a:rPr sz="1600" dirty="0">
                <a:solidFill>
                  <a:srgbClr val="E6EDF3"/>
                </a:solidFill>
              </a:rPr>
              <a:t>• Volatility (Risk AI): Calculates the standard deviation of recent closing prices.</a:t>
            </a:r>
            <a:endParaRPr lang="en-US" sz="1600" dirty="0">
              <a:solidFill>
                <a:srgbClr val="E6EDF3"/>
              </a:solidFill>
            </a:endParaRPr>
          </a:p>
          <a:p>
            <a:pPr>
              <a:lnSpc>
                <a:spcPct val="300000"/>
              </a:lnSpc>
              <a:spcBef>
                <a:spcPts val="400"/>
              </a:spcBef>
            </a:pPr>
            <a:r>
              <a:rPr sz="1600" dirty="0">
                <a:solidFill>
                  <a:srgbClr val="E6EDF3"/>
                </a:solidFill>
              </a:rPr>
              <a:t>• Fundamentals (Financial AI): Evaluates Gross Margins and Revenue Growth against hardcoded algorithmic thresholds.</a:t>
            </a:r>
            <a:endParaRPr lang="en-US" sz="1600" dirty="0">
              <a:solidFill>
                <a:srgbClr val="E6EDF3"/>
              </a:solidFill>
            </a:endParaRPr>
          </a:p>
          <a:p>
            <a:pPr>
              <a:lnSpc>
                <a:spcPct val="300000"/>
              </a:lnSpc>
              <a:spcBef>
                <a:spcPts val="400"/>
              </a:spcBef>
            </a:pPr>
            <a:r>
              <a:rPr sz="1600" dirty="0">
                <a:solidFill>
                  <a:srgbClr val="E6EDF3"/>
                </a:solidFill>
              </a:rPr>
              <a:t>• Sentiment (Strategy AI): Parses live news headlines using heuristic keyword matching.</a:t>
            </a:r>
          </a:p>
        </p:txBody>
      </p:sp>
      <p:sp>
        <p:nvSpPr>
          <p:cNvPr id="7" name="TextBox 6"/>
          <p:cNvSpPr txBox="1"/>
          <p:nvPr/>
        </p:nvSpPr>
        <p:spPr>
          <a:xfrm>
            <a:off x="8686800" y="6309360"/>
            <a:ext cx="3200400" cy="365760"/>
          </a:xfrm>
          <a:prstGeom prst="rect">
            <a:avLst/>
          </a:prstGeom>
          <a:noFill/>
        </p:spPr>
        <p:txBody>
          <a:bodyPr wrap="none">
            <a:spAutoFit/>
          </a:bodyPr>
          <a:lstStyle/>
          <a:p>
            <a:pPr algn="r"/>
            <a:r>
              <a:rPr sz="900" i="1">
                <a:solidFill>
                  <a:srgbClr val="CCCCCC"/>
                </a:solidFill>
              </a:rPr>
              <a:t>Zentai Networks — Capstone 2025</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182880"/>
            <a:ext cx="12188952" cy="6858000"/>
          </a:xfrm>
          <a:prstGeom prst="rect">
            <a:avLst/>
          </a:prstGeom>
          <a:solidFill>
            <a:srgbClr val="0D1117"/>
          </a:solidFill>
          <a:ln>
            <a:solidFill>
              <a:srgbClr val="0D111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182880"/>
            <a:ext cx="1371600" cy="365760"/>
          </a:xfrm>
          <a:prstGeom prst="rect">
            <a:avLst/>
          </a:prstGeom>
          <a:noFill/>
        </p:spPr>
        <p:txBody>
          <a:bodyPr wrap="none">
            <a:spAutoFit/>
          </a:bodyPr>
          <a:lstStyle/>
          <a:p>
            <a:r>
              <a:rPr sz="1000" b="1">
                <a:solidFill>
                  <a:srgbClr val="00E5FF"/>
                </a:solidFill>
              </a:rPr>
              <a:t>  10 / 28  </a:t>
            </a:r>
          </a:p>
        </p:txBody>
      </p:sp>
      <p:sp>
        <p:nvSpPr>
          <p:cNvPr id="4" name="TextBox 3"/>
          <p:cNvSpPr txBox="1"/>
          <p:nvPr/>
        </p:nvSpPr>
        <p:spPr>
          <a:xfrm>
            <a:off x="457200" y="320040"/>
            <a:ext cx="11274552" cy="1005840"/>
          </a:xfrm>
          <a:prstGeom prst="rect">
            <a:avLst/>
          </a:prstGeom>
          <a:noFill/>
        </p:spPr>
        <p:txBody>
          <a:bodyPr wrap="square">
            <a:spAutoFit/>
          </a:bodyPr>
          <a:lstStyle/>
          <a:p>
            <a:pPr algn="l"/>
            <a:r>
              <a:rPr sz="3400" b="1">
                <a:solidFill>
                  <a:srgbClr val="00E5FF"/>
                </a:solidFill>
              </a:rPr>
              <a:t>9. Engine 2: DCF Valuation (The Math)</a:t>
            </a:r>
          </a:p>
        </p:txBody>
      </p:sp>
      <p:sp>
        <p:nvSpPr>
          <p:cNvPr id="5" name="Rectangle 4"/>
          <p:cNvSpPr/>
          <p:nvPr/>
        </p:nvSpPr>
        <p:spPr>
          <a:xfrm>
            <a:off x="457200" y="1371600"/>
            <a:ext cx="11274552" cy="25400"/>
          </a:xfrm>
          <a:prstGeom prst="rect">
            <a:avLst/>
          </a:prstGeom>
          <a:solidFill>
            <a:srgbClr val="00E5FF"/>
          </a:solidFill>
          <a:ln>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1508760"/>
            <a:ext cx="11274552" cy="3019032"/>
          </a:xfrm>
          <a:prstGeom prst="rect">
            <a:avLst/>
          </a:prstGeom>
          <a:noFill/>
        </p:spPr>
        <p:txBody>
          <a:bodyPr wrap="square">
            <a:spAutoFit/>
          </a:bodyPr>
          <a:lstStyle/>
          <a:p>
            <a:pPr>
              <a:lnSpc>
                <a:spcPct val="300000"/>
              </a:lnSpc>
              <a:spcBef>
                <a:spcPts val="400"/>
              </a:spcBef>
            </a:pPr>
            <a:r>
              <a:rPr sz="1600" dirty="0">
                <a:solidFill>
                  <a:srgbClr val="E6EDF3"/>
                </a:solidFill>
              </a:rPr>
              <a:t>• The Algorithm: Discounted Cash Flow is a quantitative method to determine 'Intrinsic Value'.</a:t>
            </a:r>
            <a:endParaRPr lang="en-US" sz="1600" dirty="0">
              <a:solidFill>
                <a:srgbClr val="E6EDF3"/>
              </a:solidFill>
            </a:endParaRPr>
          </a:p>
          <a:p>
            <a:pPr>
              <a:lnSpc>
                <a:spcPct val="300000"/>
              </a:lnSpc>
              <a:spcBef>
                <a:spcPts val="400"/>
              </a:spcBef>
            </a:pPr>
            <a:r>
              <a:rPr sz="1600" dirty="0">
                <a:solidFill>
                  <a:srgbClr val="E6EDF3"/>
                </a:solidFill>
              </a:rPr>
              <a:t>• Implementation: The engine scrapes Free Cash Flow (FCF) data, projects it 5 years into the future using a constant growth rate, and discounts it back to Present Value using an estimated WACC (Weighted Average Cost of Capital).</a:t>
            </a:r>
            <a:endParaRPr lang="en-US" sz="1600" dirty="0">
              <a:solidFill>
                <a:srgbClr val="E6EDF3"/>
              </a:solidFill>
            </a:endParaRPr>
          </a:p>
          <a:p>
            <a:pPr>
              <a:lnSpc>
                <a:spcPct val="300000"/>
              </a:lnSpc>
              <a:spcBef>
                <a:spcPts val="400"/>
              </a:spcBef>
            </a:pPr>
            <a:r>
              <a:rPr sz="1600" dirty="0">
                <a:solidFill>
                  <a:srgbClr val="E6EDF3"/>
                </a:solidFill>
              </a:rPr>
              <a:t>• Execution: Calculated natively using Python floats to determine the exact 'Margin of Safety' percentage.</a:t>
            </a:r>
          </a:p>
        </p:txBody>
      </p:sp>
      <p:sp>
        <p:nvSpPr>
          <p:cNvPr id="7" name="TextBox 6"/>
          <p:cNvSpPr txBox="1"/>
          <p:nvPr/>
        </p:nvSpPr>
        <p:spPr>
          <a:xfrm>
            <a:off x="8686800" y="6309360"/>
            <a:ext cx="3200400" cy="365760"/>
          </a:xfrm>
          <a:prstGeom prst="rect">
            <a:avLst/>
          </a:prstGeom>
          <a:noFill/>
        </p:spPr>
        <p:txBody>
          <a:bodyPr wrap="none">
            <a:spAutoFit/>
          </a:bodyPr>
          <a:lstStyle/>
          <a:p>
            <a:pPr algn="r"/>
            <a:r>
              <a:rPr sz="900" i="1">
                <a:solidFill>
                  <a:srgbClr val="CCCCCC"/>
                </a:solidFill>
              </a:rPr>
              <a:t>Zentai Networks — Capstone 2025</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D1117"/>
          </a:solidFill>
          <a:ln>
            <a:solidFill>
              <a:srgbClr val="0D111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182880"/>
            <a:ext cx="1371600" cy="365760"/>
          </a:xfrm>
          <a:prstGeom prst="rect">
            <a:avLst/>
          </a:prstGeom>
          <a:noFill/>
        </p:spPr>
        <p:txBody>
          <a:bodyPr wrap="none">
            <a:spAutoFit/>
          </a:bodyPr>
          <a:lstStyle/>
          <a:p>
            <a:r>
              <a:rPr sz="1000" b="1">
                <a:solidFill>
                  <a:srgbClr val="00E5FF"/>
                </a:solidFill>
              </a:rPr>
              <a:t>  11 / 28  </a:t>
            </a:r>
          </a:p>
        </p:txBody>
      </p:sp>
      <p:sp>
        <p:nvSpPr>
          <p:cNvPr id="4" name="TextBox 3"/>
          <p:cNvSpPr txBox="1"/>
          <p:nvPr/>
        </p:nvSpPr>
        <p:spPr>
          <a:xfrm>
            <a:off x="457200" y="320040"/>
            <a:ext cx="11274552" cy="1005840"/>
          </a:xfrm>
          <a:prstGeom prst="rect">
            <a:avLst/>
          </a:prstGeom>
          <a:noFill/>
        </p:spPr>
        <p:txBody>
          <a:bodyPr wrap="square">
            <a:spAutoFit/>
          </a:bodyPr>
          <a:lstStyle/>
          <a:p>
            <a:pPr algn="l"/>
            <a:r>
              <a:rPr sz="3400" b="1">
                <a:solidFill>
                  <a:srgbClr val="00E5FF"/>
                </a:solidFill>
              </a:rPr>
              <a:t>10. Engine 3: Portfolio Optimization</a:t>
            </a:r>
          </a:p>
        </p:txBody>
      </p:sp>
      <p:sp>
        <p:nvSpPr>
          <p:cNvPr id="5" name="Rectangle 4"/>
          <p:cNvSpPr/>
          <p:nvPr/>
        </p:nvSpPr>
        <p:spPr>
          <a:xfrm>
            <a:off x="457200" y="1371600"/>
            <a:ext cx="11274552" cy="25400"/>
          </a:xfrm>
          <a:prstGeom prst="rect">
            <a:avLst/>
          </a:prstGeom>
          <a:solidFill>
            <a:srgbClr val="00E5FF"/>
          </a:solidFill>
          <a:ln>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1508760"/>
            <a:ext cx="11274552" cy="2229072"/>
          </a:xfrm>
          <a:prstGeom prst="rect">
            <a:avLst/>
          </a:prstGeom>
          <a:noFill/>
        </p:spPr>
        <p:txBody>
          <a:bodyPr wrap="square">
            <a:spAutoFit/>
          </a:bodyPr>
          <a:lstStyle/>
          <a:p>
            <a:pPr>
              <a:lnSpc>
                <a:spcPct val="300000"/>
              </a:lnSpc>
              <a:spcBef>
                <a:spcPts val="400"/>
              </a:spcBef>
            </a:pPr>
            <a:r>
              <a:rPr sz="1600" dirty="0">
                <a:solidFill>
                  <a:srgbClr val="E6EDF3"/>
                </a:solidFill>
              </a:rPr>
              <a:t>• Modern Portfolio Theory (MPT): Implementing Harry Markowitz's Nobel-prize winning mathematics natively in Python.</a:t>
            </a:r>
            <a:endParaRPr lang="en-US" sz="1600" dirty="0">
              <a:solidFill>
                <a:srgbClr val="E6EDF3"/>
              </a:solidFill>
            </a:endParaRPr>
          </a:p>
          <a:p>
            <a:pPr>
              <a:lnSpc>
                <a:spcPct val="300000"/>
              </a:lnSpc>
              <a:spcBef>
                <a:spcPts val="400"/>
              </a:spcBef>
            </a:pPr>
            <a:r>
              <a:rPr sz="1600" dirty="0">
                <a:solidFill>
                  <a:srgbClr val="E6EDF3"/>
                </a:solidFill>
              </a:rPr>
              <a:t>• The Matrix: We use Pandas to calculate the daily percentage returns of all 10 companies over the last 365 days, and then generate an `(N x N)` Covariance Matrix to understand how the assets move relative to each other.</a:t>
            </a:r>
          </a:p>
        </p:txBody>
      </p:sp>
      <p:sp>
        <p:nvSpPr>
          <p:cNvPr id="7" name="TextBox 6"/>
          <p:cNvSpPr txBox="1"/>
          <p:nvPr/>
        </p:nvSpPr>
        <p:spPr>
          <a:xfrm>
            <a:off x="8686800" y="6309360"/>
            <a:ext cx="3200400" cy="365760"/>
          </a:xfrm>
          <a:prstGeom prst="rect">
            <a:avLst/>
          </a:prstGeom>
          <a:noFill/>
        </p:spPr>
        <p:txBody>
          <a:bodyPr wrap="none">
            <a:spAutoFit/>
          </a:bodyPr>
          <a:lstStyle/>
          <a:p>
            <a:pPr algn="r"/>
            <a:r>
              <a:rPr sz="900" i="1">
                <a:solidFill>
                  <a:srgbClr val="CCCCCC"/>
                </a:solidFill>
              </a:rPr>
              <a:t>Zentai Networks — Capstone 2025</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D1117"/>
          </a:solidFill>
          <a:ln>
            <a:solidFill>
              <a:srgbClr val="0D111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182880"/>
            <a:ext cx="1371600" cy="365760"/>
          </a:xfrm>
          <a:prstGeom prst="rect">
            <a:avLst/>
          </a:prstGeom>
          <a:noFill/>
        </p:spPr>
        <p:txBody>
          <a:bodyPr wrap="none">
            <a:spAutoFit/>
          </a:bodyPr>
          <a:lstStyle/>
          <a:p>
            <a:r>
              <a:rPr sz="1000" b="1">
                <a:solidFill>
                  <a:srgbClr val="00E5FF"/>
                </a:solidFill>
              </a:rPr>
              <a:t>  12 / 28  </a:t>
            </a:r>
          </a:p>
        </p:txBody>
      </p:sp>
      <p:sp>
        <p:nvSpPr>
          <p:cNvPr id="4" name="TextBox 3"/>
          <p:cNvSpPr txBox="1"/>
          <p:nvPr/>
        </p:nvSpPr>
        <p:spPr>
          <a:xfrm>
            <a:off x="457200" y="320040"/>
            <a:ext cx="11274552" cy="1005840"/>
          </a:xfrm>
          <a:prstGeom prst="rect">
            <a:avLst/>
          </a:prstGeom>
          <a:noFill/>
        </p:spPr>
        <p:txBody>
          <a:bodyPr wrap="square">
            <a:spAutoFit/>
          </a:bodyPr>
          <a:lstStyle/>
          <a:p>
            <a:pPr algn="l"/>
            <a:r>
              <a:rPr sz="3400" b="1">
                <a:solidFill>
                  <a:srgbClr val="00E5FF"/>
                </a:solidFill>
              </a:rPr>
              <a:t>11. Covariance &amp; Inverse Volatility Weighting</a:t>
            </a:r>
          </a:p>
        </p:txBody>
      </p:sp>
      <p:sp>
        <p:nvSpPr>
          <p:cNvPr id="5" name="Rectangle 4"/>
          <p:cNvSpPr/>
          <p:nvPr/>
        </p:nvSpPr>
        <p:spPr>
          <a:xfrm>
            <a:off x="457200" y="1371600"/>
            <a:ext cx="11274552" cy="25400"/>
          </a:xfrm>
          <a:prstGeom prst="rect">
            <a:avLst/>
          </a:prstGeom>
          <a:solidFill>
            <a:srgbClr val="00E5FF"/>
          </a:solidFill>
          <a:ln>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1508760"/>
            <a:ext cx="11274552" cy="2229072"/>
          </a:xfrm>
          <a:prstGeom prst="rect">
            <a:avLst/>
          </a:prstGeom>
          <a:noFill/>
        </p:spPr>
        <p:txBody>
          <a:bodyPr wrap="square">
            <a:spAutoFit/>
          </a:bodyPr>
          <a:lstStyle/>
          <a:p>
            <a:pPr>
              <a:lnSpc>
                <a:spcPct val="300000"/>
              </a:lnSpc>
              <a:spcBef>
                <a:spcPts val="400"/>
              </a:spcBef>
            </a:pPr>
            <a:r>
              <a:rPr sz="1600" dirty="0">
                <a:solidFill>
                  <a:srgbClr val="E6EDF3"/>
                </a:solidFill>
              </a:rPr>
              <a:t>• The Math: Instead of equally weighting the portfolio (10% each), the algorithm calculates the Inverse Volatility of each asset.</a:t>
            </a:r>
            <a:endParaRPr lang="en-US" sz="1600" dirty="0">
              <a:solidFill>
                <a:srgbClr val="E6EDF3"/>
              </a:solidFill>
            </a:endParaRPr>
          </a:p>
          <a:p>
            <a:pPr>
              <a:lnSpc>
                <a:spcPct val="300000"/>
              </a:lnSpc>
              <a:spcBef>
                <a:spcPts val="400"/>
              </a:spcBef>
            </a:pPr>
            <a:r>
              <a:rPr sz="1600" dirty="0">
                <a:solidFill>
                  <a:srgbClr val="E6EDF3"/>
                </a:solidFill>
              </a:rPr>
              <a:t>• Risk Minimization: Assets with high standard deviations (like Tesla) are mathematically penalized and assigned lower weights. Highly stable assets (like JPMorgan) are assigned heavier weights to maximize the portfolio's Sharpe Ratio.</a:t>
            </a:r>
          </a:p>
        </p:txBody>
      </p:sp>
      <p:sp>
        <p:nvSpPr>
          <p:cNvPr id="7" name="TextBox 6"/>
          <p:cNvSpPr txBox="1"/>
          <p:nvPr/>
        </p:nvSpPr>
        <p:spPr>
          <a:xfrm>
            <a:off x="8686800" y="6309360"/>
            <a:ext cx="3200400" cy="365760"/>
          </a:xfrm>
          <a:prstGeom prst="rect">
            <a:avLst/>
          </a:prstGeom>
          <a:noFill/>
        </p:spPr>
        <p:txBody>
          <a:bodyPr wrap="none">
            <a:spAutoFit/>
          </a:bodyPr>
          <a:lstStyle/>
          <a:p>
            <a:pPr algn="r"/>
            <a:r>
              <a:rPr sz="900" i="1">
                <a:solidFill>
                  <a:srgbClr val="CCCCCC"/>
                </a:solidFill>
              </a:rPr>
              <a:t>Zentai Networks — Capstone 2025</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D1117"/>
          </a:solidFill>
          <a:ln>
            <a:solidFill>
              <a:srgbClr val="0D111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182880"/>
            <a:ext cx="1371600" cy="365760"/>
          </a:xfrm>
          <a:prstGeom prst="rect">
            <a:avLst/>
          </a:prstGeom>
          <a:noFill/>
        </p:spPr>
        <p:txBody>
          <a:bodyPr wrap="none">
            <a:spAutoFit/>
          </a:bodyPr>
          <a:lstStyle/>
          <a:p>
            <a:r>
              <a:rPr sz="1000" b="1">
                <a:solidFill>
                  <a:srgbClr val="00E5FF"/>
                </a:solidFill>
              </a:rPr>
              <a:t>  13 / 28  </a:t>
            </a:r>
          </a:p>
        </p:txBody>
      </p:sp>
      <p:sp>
        <p:nvSpPr>
          <p:cNvPr id="4" name="TextBox 3"/>
          <p:cNvSpPr txBox="1"/>
          <p:nvPr/>
        </p:nvSpPr>
        <p:spPr>
          <a:xfrm>
            <a:off x="457200" y="320040"/>
            <a:ext cx="11274552" cy="1005840"/>
          </a:xfrm>
          <a:prstGeom prst="rect">
            <a:avLst/>
          </a:prstGeom>
          <a:noFill/>
        </p:spPr>
        <p:txBody>
          <a:bodyPr wrap="square">
            <a:spAutoFit/>
          </a:bodyPr>
          <a:lstStyle/>
          <a:p>
            <a:pPr algn="l"/>
            <a:r>
              <a:rPr sz="3400" b="1">
                <a:solidFill>
                  <a:srgbClr val="00E5FF"/>
                </a:solidFill>
              </a:rPr>
              <a:t>12. The Capital Allocator Algorithm</a:t>
            </a:r>
          </a:p>
        </p:txBody>
      </p:sp>
      <p:sp>
        <p:nvSpPr>
          <p:cNvPr id="5" name="Rectangle 4"/>
          <p:cNvSpPr/>
          <p:nvPr/>
        </p:nvSpPr>
        <p:spPr>
          <a:xfrm>
            <a:off x="457200" y="1371600"/>
            <a:ext cx="11274552" cy="25400"/>
          </a:xfrm>
          <a:prstGeom prst="rect">
            <a:avLst/>
          </a:prstGeom>
          <a:solidFill>
            <a:srgbClr val="00E5FF"/>
          </a:solidFill>
          <a:ln>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1508760"/>
            <a:ext cx="11274552" cy="3993657"/>
          </a:xfrm>
          <a:prstGeom prst="rect">
            <a:avLst/>
          </a:prstGeom>
          <a:noFill/>
        </p:spPr>
        <p:txBody>
          <a:bodyPr wrap="square">
            <a:spAutoFit/>
          </a:bodyPr>
          <a:lstStyle/>
          <a:p>
            <a:pPr>
              <a:lnSpc>
                <a:spcPct val="300000"/>
              </a:lnSpc>
            </a:pPr>
            <a:r>
              <a:rPr sz="1800" i="1" dirty="0">
                <a:solidFill>
                  <a:srgbClr val="00E5FF"/>
                </a:solidFill>
              </a:rPr>
              <a:t>❝ Executives execute on absolute capital, not abstract percentages.</a:t>
            </a:r>
          </a:p>
          <a:p>
            <a:pPr>
              <a:lnSpc>
                <a:spcPct val="300000"/>
              </a:lnSpc>
              <a:spcAft>
                <a:spcPts val="400"/>
              </a:spcAft>
            </a:pPr>
            <a:endParaRPr sz="1800" i="1" dirty="0">
              <a:solidFill>
                <a:srgbClr val="00E5FF"/>
              </a:solidFill>
            </a:endParaRPr>
          </a:p>
          <a:p>
            <a:pPr>
              <a:lnSpc>
                <a:spcPct val="300000"/>
              </a:lnSpc>
              <a:spcBef>
                <a:spcPts val="400"/>
              </a:spcBef>
            </a:pPr>
            <a:r>
              <a:rPr sz="1600" dirty="0">
                <a:solidFill>
                  <a:srgbClr val="E6EDF3"/>
                </a:solidFill>
              </a:rPr>
              <a:t>• Execution: The user inputs a float variable (e.g., `$100,000`).</a:t>
            </a:r>
            <a:endParaRPr lang="en-US" sz="1600" dirty="0">
              <a:solidFill>
                <a:srgbClr val="E6EDF3"/>
              </a:solidFill>
            </a:endParaRPr>
          </a:p>
          <a:p>
            <a:pPr>
              <a:lnSpc>
                <a:spcPct val="300000"/>
              </a:lnSpc>
              <a:spcBef>
                <a:spcPts val="400"/>
              </a:spcBef>
            </a:pPr>
            <a:r>
              <a:rPr sz="1600" dirty="0">
                <a:solidFill>
                  <a:srgbClr val="E6EDF3"/>
                </a:solidFill>
              </a:rPr>
              <a:t>• Dynamic Allocation: The engine multiplies this input against the optimized MPT weight vector, returning exact dollar allocations for the UI execution table.</a:t>
            </a:r>
          </a:p>
        </p:txBody>
      </p:sp>
      <p:sp>
        <p:nvSpPr>
          <p:cNvPr id="7" name="TextBox 6"/>
          <p:cNvSpPr txBox="1"/>
          <p:nvPr/>
        </p:nvSpPr>
        <p:spPr>
          <a:xfrm>
            <a:off x="8686800" y="6309360"/>
            <a:ext cx="3200400" cy="365760"/>
          </a:xfrm>
          <a:prstGeom prst="rect">
            <a:avLst/>
          </a:prstGeom>
          <a:noFill/>
        </p:spPr>
        <p:txBody>
          <a:bodyPr wrap="none">
            <a:spAutoFit/>
          </a:bodyPr>
          <a:lstStyle/>
          <a:p>
            <a:pPr algn="r"/>
            <a:r>
              <a:rPr sz="900" i="1">
                <a:solidFill>
                  <a:srgbClr val="CCCCCC"/>
                </a:solidFill>
              </a:rPr>
              <a:t>Zentai Networks — Capstone 2025</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D1117"/>
          </a:solidFill>
          <a:ln>
            <a:solidFill>
              <a:srgbClr val="0D111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182880"/>
            <a:ext cx="1371600" cy="365760"/>
          </a:xfrm>
          <a:prstGeom prst="rect">
            <a:avLst/>
          </a:prstGeom>
          <a:noFill/>
        </p:spPr>
        <p:txBody>
          <a:bodyPr wrap="none">
            <a:spAutoFit/>
          </a:bodyPr>
          <a:lstStyle/>
          <a:p>
            <a:r>
              <a:rPr sz="1000" b="1">
                <a:solidFill>
                  <a:srgbClr val="00E5FF"/>
                </a:solidFill>
              </a:rPr>
              <a:t>  14 / 28  </a:t>
            </a:r>
          </a:p>
        </p:txBody>
      </p:sp>
      <p:sp>
        <p:nvSpPr>
          <p:cNvPr id="4" name="TextBox 3"/>
          <p:cNvSpPr txBox="1"/>
          <p:nvPr/>
        </p:nvSpPr>
        <p:spPr>
          <a:xfrm>
            <a:off x="457200" y="320040"/>
            <a:ext cx="11274552" cy="1005840"/>
          </a:xfrm>
          <a:prstGeom prst="rect">
            <a:avLst/>
          </a:prstGeom>
          <a:noFill/>
        </p:spPr>
        <p:txBody>
          <a:bodyPr wrap="square">
            <a:spAutoFit/>
          </a:bodyPr>
          <a:lstStyle/>
          <a:p>
            <a:pPr algn="l"/>
            <a:r>
              <a:rPr sz="3400" b="1">
                <a:solidFill>
                  <a:srgbClr val="00E5FF"/>
                </a:solidFill>
              </a:rPr>
              <a:t>13. Engine 4: Algorithmic Backtester</a:t>
            </a:r>
          </a:p>
        </p:txBody>
      </p:sp>
      <p:sp>
        <p:nvSpPr>
          <p:cNvPr id="5" name="Rectangle 4"/>
          <p:cNvSpPr/>
          <p:nvPr/>
        </p:nvSpPr>
        <p:spPr>
          <a:xfrm>
            <a:off x="457200" y="1371600"/>
            <a:ext cx="11274552" cy="25400"/>
          </a:xfrm>
          <a:prstGeom prst="rect">
            <a:avLst/>
          </a:prstGeom>
          <a:solidFill>
            <a:srgbClr val="00E5FF"/>
          </a:solidFill>
          <a:ln>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1508760"/>
            <a:ext cx="11274552" cy="3901324"/>
          </a:xfrm>
          <a:prstGeom prst="rect">
            <a:avLst/>
          </a:prstGeom>
          <a:noFill/>
        </p:spPr>
        <p:txBody>
          <a:bodyPr wrap="square">
            <a:spAutoFit/>
          </a:bodyPr>
          <a:lstStyle/>
          <a:p>
            <a:pPr>
              <a:lnSpc>
                <a:spcPct val="300000"/>
              </a:lnSpc>
            </a:pPr>
            <a:r>
              <a:rPr sz="1700" dirty="0">
                <a:solidFill>
                  <a:srgbClr val="E6EDF3"/>
                </a:solidFill>
              </a:rPr>
              <a:t>This module evaluates trading signals against historical time-series data to simulate 'Alpha'.</a:t>
            </a:r>
          </a:p>
          <a:p>
            <a:pPr>
              <a:lnSpc>
                <a:spcPct val="300000"/>
              </a:lnSpc>
              <a:spcAft>
                <a:spcPts val="400"/>
              </a:spcAft>
            </a:pPr>
            <a:endParaRPr sz="1700" dirty="0">
              <a:solidFill>
                <a:srgbClr val="E6EDF3"/>
              </a:solidFill>
            </a:endParaRPr>
          </a:p>
          <a:p>
            <a:pPr>
              <a:lnSpc>
                <a:spcPct val="300000"/>
              </a:lnSpc>
              <a:spcBef>
                <a:spcPts val="400"/>
              </a:spcBef>
            </a:pPr>
            <a:r>
              <a:rPr sz="1600" dirty="0">
                <a:solidFill>
                  <a:srgbClr val="E6EDF3"/>
                </a:solidFill>
              </a:rPr>
              <a:t>• Vectorization: We avoid slow Python `for` loops by using Pandas vectorized column operations.</a:t>
            </a:r>
            <a:endParaRPr lang="en-US" sz="1600" dirty="0">
              <a:solidFill>
                <a:srgbClr val="E6EDF3"/>
              </a:solidFill>
            </a:endParaRPr>
          </a:p>
          <a:p>
            <a:pPr>
              <a:lnSpc>
                <a:spcPct val="300000"/>
              </a:lnSpc>
              <a:spcBef>
                <a:spcPts val="400"/>
              </a:spcBef>
            </a:pPr>
            <a:r>
              <a:rPr sz="1600" dirty="0">
                <a:solidFill>
                  <a:srgbClr val="E6EDF3"/>
                </a:solidFill>
              </a:rPr>
              <a:t>• Look-Ahead Bias Prevention: The most critical bug in quantitative finance. We use `</a:t>
            </a:r>
            <a:r>
              <a:rPr sz="1600" dirty="0" err="1">
                <a:solidFill>
                  <a:srgbClr val="E6EDF3"/>
                </a:solidFill>
              </a:rPr>
              <a:t>df</a:t>
            </a:r>
            <a:r>
              <a:rPr sz="1600" dirty="0">
                <a:solidFill>
                  <a:srgbClr val="E6EDF3"/>
                </a:solidFill>
              </a:rPr>
              <a:t>['Signal'].shift(1)` to ensure the algorithm only buys on the day after a signal is generated, simulating real-world latency.</a:t>
            </a:r>
          </a:p>
        </p:txBody>
      </p:sp>
      <p:sp>
        <p:nvSpPr>
          <p:cNvPr id="7" name="TextBox 6"/>
          <p:cNvSpPr txBox="1"/>
          <p:nvPr/>
        </p:nvSpPr>
        <p:spPr>
          <a:xfrm>
            <a:off x="8686800" y="6309360"/>
            <a:ext cx="3200400" cy="365760"/>
          </a:xfrm>
          <a:prstGeom prst="rect">
            <a:avLst/>
          </a:prstGeom>
          <a:noFill/>
        </p:spPr>
        <p:txBody>
          <a:bodyPr wrap="none">
            <a:spAutoFit/>
          </a:bodyPr>
          <a:lstStyle/>
          <a:p>
            <a:pPr algn="r"/>
            <a:r>
              <a:rPr sz="900" i="1">
                <a:solidFill>
                  <a:srgbClr val="CCCCCC"/>
                </a:solidFill>
              </a:rPr>
              <a:t>Zentai Networks — Capstone 2025</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D1117"/>
          </a:solidFill>
          <a:ln>
            <a:solidFill>
              <a:srgbClr val="0D111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182880"/>
            <a:ext cx="1371600" cy="365760"/>
          </a:xfrm>
          <a:prstGeom prst="rect">
            <a:avLst/>
          </a:prstGeom>
          <a:noFill/>
        </p:spPr>
        <p:txBody>
          <a:bodyPr wrap="none">
            <a:spAutoFit/>
          </a:bodyPr>
          <a:lstStyle/>
          <a:p>
            <a:r>
              <a:rPr sz="1000" b="1">
                <a:solidFill>
                  <a:srgbClr val="00E5FF"/>
                </a:solidFill>
              </a:rPr>
              <a:t>  15 / 28  </a:t>
            </a:r>
          </a:p>
        </p:txBody>
      </p:sp>
      <p:sp>
        <p:nvSpPr>
          <p:cNvPr id="4" name="TextBox 3"/>
          <p:cNvSpPr txBox="1"/>
          <p:nvPr/>
        </p:nvSpPr>
        <p:spPr>
          <a:xfrm>
            <a:off x="457200" y="320040"/>
            <a:ext cx="11274552" cy="1005840"/>
          </a:xfrm>
          <a:prstGeom prst="rect">
            <a:avLst/>
          </a:prstGeom>
          <a:noFill/>
        </p:spPr>
        <p:txBody>
          <a:bodyPr wrap="square">
            <a:spAutoFit/>
          </a:bodyPr>
          <a:lstStyle/>
          <a:p>
            <a:pPr algn="l"/>
            <a:r>
              <a:rPr sz="3400" b="1">
                <a:solidFill>
                  <a:srgbClr val="00E5FF"/>
                </a:solidFill>
              </a:rPr>
              <a:t>14. Backtester: SMA Crossovers</a:t>
            </a:r>
          </a:p>
        </p:txBody>
      </p:sp>
      <p:sp>
        <p:nvSpPr>
          <p:cNvPr id="5" name="Rectangle 4"/>
          <p:cNvSpPr/>
          <p:nvPr/>
        </p:nvSpPr>
        <p:spPr>
          <a:xfrm>
            <a:off x="457200" y="1371600"/>
            <a:ext cx="11274552" cy="25400"/>
          </a:xfrm>
          <a:prstGeom prst="rect">
            <a:avLst/>
          </a:prstGeom>
          <a:solidFill>
            <a:srgbClr val="00E5FF"/>
          </a:solidFill>
          <a:ln>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1508760"/>
            <a:ext cx="11274552" cy="2967736"/>
          </a:xfrm>
          <a:prstGeom prst="rect">
            <a:avLst/>
          </a:prstGeom>
          <a:noFill/>
        </p:spPr>
        <p:txBody>
          <a:bodyPr wrap="square">
            <a:spAutoFit/>
          </a:bodyPr>
          <a:lstStyle/>
          <a:p>
            <a:pPr>
              <a:lnSpc>
                <a:spcPct val="300000"/>
              </a:lnSpc>
              <a:spcBef>
                <a:spcPts val="400"/>
              </a:spcBef>
            </a:pPr>
            <a:r>
              <a:rPr sz="1600" dirty="0">
                <a:solidFill>
                  <a:srgbClr val="E6EDF3"/>
                </a:solidFill>
              </a:rPr>
              <a:t>• Simple Moving Average (SMA): A classic trend-following algorithm.• Implementation: We calculate `</a:t>
            </a:r>
            <a:r>
              <a:rPr sz="1600" dirty="0" err="1">
                <a:solidFill>
                  <a:srgbClr val="E6EDF3"/>
                </a:solidFill>
              </a:rPr>
              <a:t>df</a:t>
            </a:r>
            <a:r>
              <a:rPr sz="1600" dirty="0">
                <a:solidFill>
                  <a:srgbClr val="E6EDF3"/>
                </a:solidFill>
              </a:rPr>
              <a:t>['Close'].rolling(window=50).mean()`.</a:t>
            </a:r>
            <a:endParaRPr lang="en-US" sz="1600" dirty="0">
              <a:solidFill>
                <a:srgbClr val="E6EDF3"/>
              </a:solidFill>
            </a:endParaRPr>
          </a:p>
          <a:p>
            <a:pPr>
              <a:lnSpc>
                <a:spcPct val="300000"/>
              </a:lnSpc>
              <a:spcBef>
                <a:spcPts val="400"/>
              </a:spcBef>
            </a:pPr>
            <a:r>
              <a:rPr sz="1600" dirty="0">
                <a:solidFill>
                  <a:srgbClr val="E6EDF3"/>
                </a:solidFill>
              </a:rPr>
              <a:t>• The Trigger: When the 50-day average crosses above the 200-day average, `</a:t>
            </a:r>
            <a:r>
              <a:rPr sz="1600" dirty="0" err="1">
                <a:solidFill>
                  <a:srgbClr val="E6EDF3"/>
                </a:solidFill>
              </a:rPr>
              <a:t>NumPy.where</a:t>
            </a:r>
            <a:r>
              <a:rPr sz="1600" dirty="0">
                <a:solidFill>
                  <a:srgbClr val="E6EDF3"/>
                </a:solidFill>
              </a:rPr>
              <a:t>()` explicitly sets the position column to 1 (Long). Otherwise, it sets it to 0 (Cash).</a:t>
            </a:r>
          </a:p>
        </p:txBody>
      </p:sp>
      <p:sp>
        <p:nvSpPr>
          <p:cNvPr id="7" name="TextBox 6"/>
          <p:cNvSpPr txBox="1"/>
          <p:nvPr/>
        </p:nvSpPr>
        <p:spPr>
          <a:xfrm>
            <a:off x="8686800" y="6309360"/>
            <a:ext cx="3200400" cy="365760"/>
          </a:xfrm>
          <a:prstGeom prst="rect">
            <a:avLst/>
          </a:prstGeom>
          <a:noFill/>
        </p:spPr>
        <p:txBody>
          <a:bodyPr wrap="none">
            <a:spAutoFit/>
          </a:bodyPr>
          <a:lstStyle/>
          <a:p>
            <a:pPr algn="r"/>
            <a:r>
              <a:rPr sz="900" i="1">
                <a:solidFill>
                  <a:srgbClr val="CCCCCC"/>
                </a:solidFill>
              </a:rPr>
              <a:t>Zentai Networks — Capstone 2025</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D1117"/>
          </a:solidFill>
          <a:ln>
            <a:solidFill>
              <a:srgbClr val="0D111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182880"/>
            <a:ext cx="1371600" cy="365760"/>
          </a:xfrm>
          <a:prstGeom prst="rect">
            <a:avLst/>
          </a:prstGeom>
          <a:noFill/>
        </p:spPr>
        <p:txBody>
          <a:bodyPr wrap="none">
            <a:spAutoFit/>
          </a:bodyPr>
          <a:lstStyle/>
          <a:p>
            <a:r>
              <a:rPr sz="1000" b="1">
                <a:solidFill>
                  <a:srgbClr val="00E5FF"/>
                </a:solidFill>
              </a:rPr>
              <a:t>  16 / 28  </a:t>
            </a:r>
          </a:p>
        </p:txBody>
      </p:sp>
      <p:sp>
        <p:nvSpPr>
          <p:cNvPr id="4" name="TextBox 3"/>
          <p:cNvSpPr txBox="1"/>
          <p:nvPr/>
        </p:nvSpPr>
        <p:spPr>
          <a:xfrm>
            <a:off x="457200" y="320040"/>
            <a:ext cx="11274552" cy="1005840"/>
          </a:xfrm>
          <a:prstGeom prst="rect">
            <a:avLst/>
          </a:prstGeom>
          <a:noFill/>
        </p:spPr>
        <p:txBody>
          <a:bodyPr wrap="square">
            <a:spAutoFit/>
          </a:bodyPr>
          <a:lstStyle/>
          <a:p>
            <a:pPr algn="l"/>
            <a:r>
              <a:rPr sz="3400" b="1">
                <a:solidFill>
                  <a:srgbClr val="00E5FF"/>
                </a:solidFill>
              </a:rPr>
              <a:t>15. Backtester: RSI &amp; MACD</a:t>
            </a:r>
          </a:p>
        </p:txBody>
      </p:sp>
      <p:sp>
        <p:nvSpPr>
          <p:cNvPr id="5" name="Rectangle 4"/>
          <p:cNvSpPr/>
          <p:nvPr/>
        </p:nvSpPr>
        <p:spPr>
          <a:xfrm>
            <a:off x="457200" y="1371600"/>
            <a:ext cx="11274552" cy="25400"/>
          </a:xfrm>
          <a:prstGeom prst="rect">
            <a:avLst/>
          </a:prstGeom>
          <a:solidFill>
            <a:srgbClr val="00E5FF"/>
          </a:solidFill>
          <a:ln>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1508760"/>
            <a:ext cx="11274552" cy="2967736"/>
          </a:xfrm>
          <a:prstGeom prst="rect">
            <a:avLst/>
          </a:prstGeom>
          <a:noFill/>
        </p:spPr>
        <p:txBody>
          <a:bodyPr wrap="square">
            <a:spAutoFit/>
          </a:bodyPr>
          <a:lstStyle/>
          <a:p>
            <a:pPr>
              <a:lnSpc>
                <a:spcPct val="300000"/>
              </a:lnSpc>
              <a:spcBef>
                <a:spcPts val="400"/>
              </a:spcBef>
            </a:pPr>
            <a:r>
              <a:rPr sz="1600" dirty="0">
                <a:solidFill>
                  <a:srgbClr val="E6EDF3"/>
                </a:solidFill>
              </a:rPr>
              <a:t>• RSI (Relative Strength Index): Measures momentum velocity. We programmed the standard formula: calculating average gains/losses over a 14-day window to identify oversold </a:t>
            </a:r>
            <a:r>
              <a:rPr lang="en-US" sz="1600" dirty="0">
                <a:solidFill>
                  <a:srgbClr val="E6EDF3"/>
                </a:solidFill>
              </a:rPr>
              <a:t>)</a:t>
            </a:r>
          </a:p>
          <a:p>
            <a:pPr>
              <a:lnSpc>
                <a:spcPct val="300000"/>
              </a:lnSpc>
              <a:spcBef>
                <a:spcPts val="400"/>
              </a:spcBef>
            </a:pPr>
            <a:r>
              <a:rPr sz="1600" dirty="0">
                <a:solidFill>
                  <a:srgbClr val="E6EDF3"/>
                </a:solidFill>
              </a:rPr>
              <a:t>• MACD (Moving Average Convergence Divergence): Calculates the delta between the 12-day and 26-day Exponential Moving Averages (EMA) to identify trend acceleration.</a:t>
            </a:r>
          </a:p>
        </p:txBody>
      </p:sp>
      <p:sp>
        <p:nvSpPr>
          <p:cNvPr id="7" name="TextBox 6"/>
          <p:cNvSpPr txBox="1"/>
          <p:nvPr/>
        </p:nvSpPr>
        <p:spPr>
          <a:xfrm>
            <a:off x="8686800" y="6309360"/>
            <a:ext cx="3200400" cy="365760"/>
          </a:xfrm>
          <a:prstGeom prst="rect">
            <a:avLst/>
          </a:prstGeom>
          <a:noFill/>
        </p:spPr>
        <p:txBody>
          <a:bodyPr wrap="none">
            <a:spAutoFit/>
          </a:bodyPr>
          <a:lstStyle/>
          <a:p>
            <a:pPr algn="r"/>
            <a:r>
              <a:rPr sz="900" i="1">
                <a:solidFill>
                  <a:srgbClr val="CCCCCC"/>
                </a:solidFill>
              </a:rPr>
              <a:t>Zentai Networks — Capstone 2025</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D1117"/>
          </a:solidFill>
          <a:ln>
            <a:solidFill>
              <a:srgbClr val="0D111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182880"/>
            <a:ext cx="1371600" cy="365760"/>
          </a:xfrm>
          <a:prstGeom prst="rect">
            <a:avLst/>
          </a:prstGeom>
          <a:noFill/>
        </p:spPr>
        <p:txBody>
          <a:bodyPr wrap="none">
            <a:spAutoFit/>
          </a:bodyPr>
          <a:lstStyle/>
          <a:p>
            <a:r>
              <a:rPr sz="1000" b="1">
                <a:solidFill>
                  <a:srgbClr val="00E5FF"/>
                </a:solidFill>
              </a:rPr>
              <a:t>  17 / 28  </a:t>
            </a:r>
          </a:p>
        </p:txBody>
      </p:sp>
      <p:sp>
        <p:nvSpPr>
          <p:cNvPr id="4" name="TextBox 3"/>
          <p:cNvSpPr txBox="1"/>
          <p:nvPr/>
        </p:nvSpPr>
        <p:spPr>
          <a:xfrm>
            <a:off x="457200" y="320040"/>
            <a:ext cx="11274552" cy="1005840"/>
          </a:xfrm>
          <a:prstGeom prst="rect">
            <a:avLst/>
          </a:prstGeom>
          <a:noFill/>
        </p:spPr>
        <p:txBody>
          <a:bodyPr wrap="square">
            <a:spAutoFit/>
          </a:bodyPr>
          <a:lstStyle/>
          <a:p>
            <a:pPr algn="l"/>
            <a:r>
              <a:rPr sz="3400" b="1">
                <a:solidFill>
                  <a:srgbClr val="00E5FF"/>
                </a:solidFill>
              </a:rPr>
              <a:t>16. Engine 5: Geospatial Supply Chain</a:t>
            </a:r>
          </a:p>
        </p:txBody>
      </p:sp>
      <p:sp>
        <p:nvSpPr>
          <p:cNvPr id="5" name="Rectangle 4"/>
          <p:cNvSpPr/>
          <p:nvPr/>
        </p:nvSpPr>
        <p:spPr>
          <a:xfrm>
            <a:off x="457200" y="1371600"/>
            <a:ext cx="11274552" cy="25400"/>
          </a:xfrm>
          <a:prstGeom prst="rect">
            <a:avLst/>
          </a:prstGeom>
          <a:solidFill>
            <a:srgbClr val="00E5FF"/>
          </a:solidFill>
          <a:ln>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1508760"/>
            <a:ext cx="11274552" cy="3019032"/>
          </a:xfrm>
          <a:prstGeom prst="rect">
            <a:avLst/>
          </a:prstGeom>
          <a:noFill/>
        </p:spPr>
        <p:txBody>
          <a:bodyPr wrap="square">
            <a:spAutoFit/>
          </a:bodyPr>
          <a:lstStyle/>
          <a:p>
            <a:pPr>
              <a:lnSpc>
                <a:spcPct val="300000"/>
              </a:lnSpc>
              <a:spcBef>
                <a:spcPts val="400"/>
              </a:spcBef>
            </a:pPr>
            <a:r>
              <a:rPr sz="1600" dirty="0">
                <a:solidFill>
                  <a:srgbClr val="E6EDF3"/>
                </a:solidFill>
              </a:rPr>
              <a:t>• The Problem: Plotting static infrastructure on a map does not provide risk context.</a:t>
            </a:r>
            <a:endParaRPr lang="en-US" sz="1600" dirty="0">
              <a:solidFill>
                <a:srgbClr val="E6EDF3"/>
              </a:solidFill>
            </a:endParaRPr>
          </a:p>
          <a:p>
            <a:pPr>
              <a:lnSpc>
                <a:spcPct val="300000"/>
              </a:lnSpc>
              <a:spcBef>
                <a:spcPts val="400"/>
              </a:spcBef>
            </a:pPr>
            <a:r>
              <a:rPr sz="1600" dirty="0">
                <a:solidFill>
                  <a:srgbClr val="E6EDF3"/>
                </a:solidFill>
              </a:rPr>
              <a:t>• Plotly WebGL: We use Plotly's Orthographic projection to render a high-performance, interactive 3D globe.</a:t>
            </a:r>
            <a:endParaRPr lang="en-US" sz="1600" dirty="0">
              <a:solidFill>
                <a:srgbClr val="E6EDF3"/>
              </a:solidFill>
            </a:endParaRPr>
          </a:p>
          <a:p>
            <a:pPr>
              <a:lnSpc>
                <a:spcPct val="300000"/>
              </a:lnSpc>
              <a:spcBef>
                <a:spcPts val="400"/>
              </a:spcBef>
            </a:pPr>
            <a:r>
              <a:rPr sz="1600" dirty="0">
                <a:solidFill>
                  <a:srgbClr val="E6EDF3"/>
                </a:solidFill>
              </a:rPr>
              <a:t>• Hardcoded Nodes: Each of the 10 companies has explicit latitude/longitude arrays mapping their physical HQs, Manufacturing plants, and Data Centers.</a:t>
            </a:r>
          </a:p>
        </p:txBody>
      </p:sp>
      <p:sp>
        <p:nvSpPr>
          <p:cNvPr id="7" name="TextBox 6"/>
          <p:cNvSpPr txBox="1"/>
          <p:nvPr/>
        </p:nvSpPr>
        <p:spPr>
          <a:xfrm>
            <a:off x="8686800" y="6309360"/>
            <a:ext cx="3200400" cy="365760"/>
          </a:xfrm>
          <a:prstGeom prst="rect">
            <a:avLst/>
          </a:prstGeom>
          <a:noFill/>
        </p:spPr>
        <p:txBody>
          <a:bodyPr wrap="none">
            <a:spAutoFit/>
          </a:bodyPr>
          <a:lstStyle/>
          <a:p>
            <a:pPr algn="r"/>
            <a:r>
              <a:rPr sz="900" i="1">
                <a:solidFill>
                  <a:srgbClr val="CCCCCC"/>
                </a:solidFill>
              </a:rPr>
              <a:t>Zentai Networks — Capstone 2025</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D1117"/>
          </a:solidFill>
          <a:ln>
            <a:solidFill>
              <a:srgbClr val="0D111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182880"/>
            <a:ext cx="1371600" cy="365760"/>
          </a:xfrm>
          <a:prstGeom prst="rect">
            <a:avLst/>
          </a:prstGeom>
          <a:noFill/>
        </p:spPr>
        <p:txBody>
          <a:bodyPr wrap="none">
            <a:spAutoFit/>
          </a:bodyPr>
          <a:lstStyle/>
          <a:p>
            <a:r>
              <a:rPr sz="1000" b="1">
                <a:solidFill>
                  <a:srgbClr val="00E5FF"/>
                </a:solidFill>
              </a:rPr>
              <a:t>  18 / 28  </a:t>
            </a:r>
          </a:p>
        </p:txBody>
      </p:sp>
      <p:sp>
        <p:nvSpPr>
          <p:cNvPr id="4" name="TextBox 3"/>
          <p:cNvSpPr txBox="1"/>
          <p:nvPr/>
        </p:nvSpPr>
        <p:spPr>
          <a:xfrm>
            <a:off x="457200" y="320040"/>
            <a:ext cx="11274552" cy="1005840"/>
          </a:xfrm>
          <a:prstGeom prst="rect">
            <a:avLst/>
          </a:prstGeom>
          <a:noFill/>
        </p:spPr>
        <p:txBody>
          <a:bodyPr wrap="square">
            <a:spAutoFit/>
          </a:bodyPr>
          <a:lstStyle/>
          <a:p>
            <a:pPr algn="l"/>
            <a:r>
              <a:rPr sz="3400" b="1">
                <a:solidFill>
                  <a:srgbClr val="00E5FF"/>
                </a:solidFill>
              </a:rPr>
              <a:t>17. The Haversine Collision Algorithm</a:t>
            </a:r>
          </a:p>
        </p:txBody>
      </p:sp>
      <p:sp>
        <p:nvSpPr>
          <p:cNvPr id="5" name="Rectangle 4"/>
          <p:cNvSpPr/>
          <p:nvPr/>
        </p:nvSpPr>
        <p:spPr>
          <a:xfrm>
            <a:off x="457200" y="1371600"/>
            <a:ext cx="11274552" cy="25400"/>
          </a:xfrm>
          <a:prstGeom prst="rect">
            <a:avLst/>
          </a:prstGeom>
          <a:solidFill>
            <a:srgbClr val="00E5FF"/>
          </a:solidFill>
          <a:ln>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1508760"/>
            <a:ext cx="11274552" cy="3757695"/>
          </a:xfrm>
          <a:prstGeom prst="rect">
            <a:avLst/>
          </a:prstGeom>
          <a:noFill/>
        </p:spPr>
        <p:txBody>
          <a:bodyPr wrap="square">
            <a:spAutoFit/>
          </a:bodyPr>
          <a:lstStyle/>
          <a:p>
            <a:pPr>
              <a:lnSpc>
                <a:spcPct val="300000"/>
              </a:lnSpc>
              <a:spcBef>
                <a:spcPts val="400"/>
              </a:spcBef>
            </a:pPr>
            <a:r>
              <a:rPr sz="1600" dirty="0">
                <a:solidFill>
                  <a:srgbClr val="E6EDF3"/>
                </a:solidFill>
              </a:rPr>
              <a:t>• Proactive Risk Mathematics: To calculate risk, we must detect if a corporate node is physically near an active geopolitical Danger Zone.</a:t>
            </a:r>
            <a:endParaRPr lang="en-US" sz="1600" dirty="0">
              <a:solidFill>
                <a:srgbClr val="E6EDF3"/>
              </a:solidFill>
            </a:endParaRPr>
          </a:p>
          <a:p>
            <a:pPr>
              <a:lnSpc>
                <a:spcPct val="300000"/>
              </a:lnSpc>
              <a:spcBef>
                <a:spcPts val="400"/>
              </a:spcBef>
            </a:pPr>
            <a:r>
              <a:rPr sz="1600" dirty="0">
                <a:solidFill>
                  <a:srgbClr val="E6EDF3"/>
                </a:solidFill>
              </a:rPr>
              <a:t>• The Haversine Formula: Because the Earth is a sphere, standard Euclidean distance (`a² + b² = c²`) fails. We programmed the Haversine trigonometric formula to calculate the exact great-circle distance between coordinates.</a:t>
            </a:r>
            <a:endParaRPr lang="en-US" sz="1600" dirty="0">
              <a:solidFill>
                <a:srgbClr val="E6EDF3"/>
              </a:solidFill>
            </a:endParaRPr>
          </a:p>
          <a:p>
            <a:pPr>
              <a:lnSpc>
                <a:spcPct val="300000"/>
              </a:lnSpc>
              <a:spcBef>
                <a:spcPts val="400"/>
              </a:spcBef>
            </a:pPr>
            <a:r>
              <a:rPr sz="1600" dirty="0">
                <a:solidFill>
                  <a:srgbClr val="E6EDF3"/>
                </a:solidFill>
              </a:rPr>
              <a:t>• The Trigger: If the distance is less than the danger zone's blast radius, the UI automatically flags it as CRITICAL RISK.</a:t>
            </a:r>
          </a:p>
        </p:txBody>
      </p:sp>
      <p:sp>
        <p:nvSpPr>
          <p:cNvPr id="7" name="TextBox 6"/>
          <p:cNvSpPr txBox="1"/>
          <p:nvPr/>
        </p:nvSpPr>
        <p:spPr>
          <a:xfrm>
            <a:off x="8686800" y="6309360"/>
            <a:ext cx="3200400" cy="365760"/>
          </a:xfrm>
          <a:prstGeom prst="rect">
            <a:avLst/>
          </a:prstGeom>
          <a:noFill/>
        </p:spPr>
        <p:txBody>
          <a:bodyPr wrap="none">
            <a:spAutoFit/>
          </a:bodyPr>
          <a:lstStyle/>
          <a:p>
            <a:pPr algn="r"/>
            <a:r>
              <a:rPr sz="900" i="1">
                <a:solidFill>
                  <a:srgbClr val="CCCCCC"/>
                </a:solidFill>
              </a:rPr>
              <a:t>Zentai Networks — Capstone 2025</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D1117"/>
          </a:solidFill>
          <a:ln>
            <a:solidFill>
              <a:srgbClr val="0D111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182880"/>
            <a:ext cx="1371600" cy="365760"/>
          </a:xfrm>
          <a:prstGeom prst="rect">
            <a:avLst/>
          </a:prstGeom>
          <a:noFill/>
        </p:spPr>
        <p:txBody>
          <a:bodyPr wrap="none">
            <a:spAutoFit/>
          </a:bodyPr>
          <a:lstStyle/>
          <a:p>
            <a:r>
              <a:rPr sz="1000" b="1">
                <a:solidFill>
                  <a:srgbClr val="00E5FF"/>
                </a:solidFill>
              </a:rPr>
              <a:t>  19 / 28  </a:t>
            </a:r>
          </a:p>
        </p:txBody>
      </p:sp>
      <p:sp>
        <p:nvSpPr>
          <p:cNvPr id="4" name="TextBox 3"/>
          <p:cNvSpPr txBox="1"/>
          <p:nvPr/>
        </p:nvSpPr>
        <p:spPr>
          <a:xfrm>
            <a:off x="457200" y="320040"/>
            <a:ext cx="11274552" cy="1005840"/>
          </a:xfrm>
          <a:prstGeom prst="rect">
            <a:avLst/>
          </a:prstGeom>
          <a:noFill/>
        </p:spPr>
        <p:txBody>
          <a:bodyPr wrap="square">
            <a:spAutoFit/>
          </a:bodyPr>
          <a:lstStyle/>
          <a:p>
            <a:pPr algn="l"/>
            <a:r>
              <a:rPr sz="3400" b="1">
                <a:solidFill>
                  <a:srgbClr val="00E5FF"/>
                </a:solidFill>
              </a:rPr>
              <a:t>18. Engine 6: Historical Pattern Recognition</a:t>
            </a:r>
          </a:p>
        </p:txBody>
      </p:sp>
      <p:sp>
        <p:nvSpPr>
          <p:cNvPr id="5" name="Rectangle 4"/>
          <p:cNvSpPr/>
          <p:nvPr/>
        </p:nvSpPr>
        <p:spPr>
          <a:xfrm>
            <a:off x="457200" y="1371600"/>
            <a:ext cx="11274552" cy="25400"/>
          </a:xfrm>
          <a:prstGeom prst="rect">
            <a:avLst/>
          </a:prstGeom>
          <a:solidFill>
            <a:srgbClr val="00E5FF"/>
          </a:solidFill>
          <a:ln>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1508760"/>
            <a:ext cx="11274552" cy="3901324"/>
          </a:xfrm>
          <a:prstGeom prst="rect">
            <a:avLst/>
          </a:prstGeom>
          <a:noFill/>
        </p:spPr>
        <p:txBody>
          <a:bodyPr wrap="square">
            <a:spAutoFit/>
          </a:bodyPr>
          <a:lstStyle/>
          <a:p>
            <a:pPr>
              <a:lnSpc>
                <a:spcPct val="300000"/>
              </a:lnSpc>
            </a:pPr>
            <a:r>
              <a:rPr sz="1700" dirty="0">
                <a:solidFill>
                  <a:srgbClr val="E6EDF3"/>
                </a:solidFill>
              </a:rPr>
              <a:t>Transitioning from static reporting to predictive quantitative analytics.</a:t>
            </a:r>
          </a:p>
          <a:p>
            <a:pPr>
              <a:lnSpc>
                <a:spcPct val="300000"/>
              </a:lnSpc>
              <a:spcAft>
                <a:spcPts val="400"/>
              </a:spcAft>
            </a:pPr>
            <a:endParaRPr sz="1700" dirty="0">
              <a:solidFill>
                <a:srgbClr val="E6EDF3"/>
              </a:solidFill>
            </a:endParaRPr>
          </a:p>
          <a:p>
            <a:pPr>
              <a:lnSpc>
                <a:spcPct val="300000"/>
              </a:lnSpc>
              <a:spcBef>
                <a:spcPts val="400"/>
              </a:spcBef>
            </a:pPr>
            <a:r>
              <a:rPr sz="1600" dirty="0">
                <a:solidFill>
                  <a:srgbClr val="E6EDF3"/>
                </a:solidFill>
              </a:rPr>
              <a:t>• The Goal: Find the exact 30-day period in the last 5 years that mathematically mirrors the current 30-day volatility trend.</a:t>
            </a:r>
            <a:endParaRPr lang="en-US" sz="1600" dirty="0">
              <a:solidFill>
                <a:srgbClr val="E6EDF3"/>
              </a:solidFill>
            </a:endParaRPr>
          </a:p>
          <a:p>
            <a:pPr>
              <a:lnSpc>
                <a:spcPct val="300000"/>
              </a:lnSpc>
              <a:spcBef>
                <a:spcPts val="400"/>
              </a:spcBef>
            </a:pPr>
            <a:r>
              <a:rPr sz="1600" dirty="0">
                <a:solidFill>
                  <a:srgbClr val="E6EDF3"/>
                </a:solidFill>
              </a:rPr>
              <a:t>• Normalization: We cannot compare raw prices (e.g., a $150 stock today vs $50 four years ago). The algorithm first normalizes both arrays using `(price - mean) / </a:t>
            </a:r>
            <a:r>
              <a:rPr sz="1600" dirty="0" err="1">
                <a:solidFill>
                  <a:srgbClr val="E6EDF3"/>
                </a:solidFill>
              </a:rPr>
              <a:t>standard_deviation</a:t>
            </a:r>
            <a:r>
              <a:rPr sz="1600" dirty="0">
                <a:solidFill>
                  <a:srgbClr val="E6EDF3"/>
                </a:solidFill>
              </a:rPr>
              <a:t>`.</a:t>
            </a:r>
          </a:p>
        </p:txBody>
      </p:sp>
      <p:sp>
        <p:nvSpPr>
          <p:cNvPr id="7" name="TextBox 6"/>
          <p:cNvSpPr txBox="1"/>
          <p:nvPr/>
        </p:nvSpPr>
        <p:spPr>
          <a:xfrm>
            <a:off x="8686800" y="6309360"/>
            <a:ext cx="3200400" cy="365760"/>
          </a:xfrm>
          <a:prstGeom prst="rect">
            <a:avLst/>
          </a:prstGeom>
          <a:noFill/>
        </p:spPr>
        <p:txBody>
          <a:bodyPr wrap="none">
            <a:spAutoFit/>
          </a:bodyPr>
          <a:lstStyle/>
          <a:p>
            <a:pPr algn="r"/>
            <a:r>
              <a:rPr sz="900" i="1">
                <a:solidFill>
                  <a:srgbClr val="CCCCCC"/>
                </a:solidFill>
              </a:rPr>
              <a:t>Zentai Networks — Capstone 2025</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D1117"/>
          </a:solidFill>
          <a:ln>
            <a:solidFill>
              <a:srgbClr val="0D111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182880"/>
            <a:ext cx="1371600" cy="365760"/>
          </a:xfrm>
          <a:prstGeom prst="rect">
            <a:avLst/>
          </a:prstGeom>
          <a:noFill/>
        </p:spPr>
        <p:txBody>
          <a:bodyPr wrap="none">
            <a:spAutoFit/>
          </a:bodyPr>
          <a:lstStyle/>
          <a:p>
            <a:r>
              <a:rPr sz="1000" b="1">
                <a:solidFill>
                  <a:srgbClr val="00E5FF"/>
                </a:solidFill>
              </a:rPr>
              <a:t>  20 / 28  </a:t>
            </a:r>
          </a:p>
        </p:txBody>
      </p:sp>
      <p:sp>
        <p:nvSpPr>
          <p:cNvPr id="4" name="TextBox 3"/>
          <p:cNvSpPr txBox="1"/>
          <p:nvPr/>
        </p:nvSpPr>
        <p:spPr>
          <a:xfrm>
            <a:off x="457200" y="320040"/>
            <a:ext cx="11274552" cy="1005840"/>
          </a:xfrm>
          <a:prstGeom prst="rect">
            <a:avLst/>
          </a:prstGeom>
          <a:noFill/>
        </p:spPr>
        <p:txBody>
          <a:bodyPr wrap="square">
            <a:spAutoFit/>
          </a:bodyPr>
          <a:lstStyle/>
          <a:p>
            <a:pPr algn="l"/>
            <a:r>
              <a:rPr sz="3400" b="1">
                <a:solidFill>
                  <a:srgbClr val="00E5FF"/>
                </a:solidFill>
              </a:rPr>
              <a:t>19. Pearson Correlation Implementation</a:t>
            </a:r>
          </a:p>
        </p:txBody>
      </p:sp>
      <p:sp>
        <p:nvSpPr>
          <p:cNvPr id="5" name="Rectangle 4"/>
          <p:cNvSpPr/>
          <p:nvPr/>
        </p:nvSpPr>
        <p:spPr>
          <a:xfrm>
            <a:off x="457200" y="1371600"/>
            <a:ext cx="11274552" cy="25400"/>
          </a:xfrm>
          <a:prstGeom prst="rect">
            <a:avLst/>
          </a:prstGeom>
          <a:solidFill>
            <a:srgbClr val="00E5FF"/>
          </a:solidFill>
          <a:ln>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1508760"/>
            <a:ext cx="11274552" cy="3757695"/>
          </a:xfrm>
          <a:prstGeom prst="rect">
            <a:avLst/>
          </a:prstGeom>
          <a:noFill/>
        </p:spPr>
        <p:txBody>
          <a:bodyPr wrap="square">
            <a:spAutoFit/>
          </a:bodyPr>
          <a:lstStyle/>
          <a:p>
            <a:pPr>
              <a:lnSpc>
                <a:spcPct val="300000"/>
              </a:lnSpc>
              <a:spcBef>
                <a:spcPts val="400"/>
              </a:spcBef>
            </a:pPr>
            <a:r>
              <a:rPr sz="1600" dirty="0">
                <a:solidFill>
                  <a:srgbClr val="E6EDF3"/>
                </a:solidFill>
              </a:rPr>
              <a:t>• SciPy Integration: We use `</a:t>
            </a:r>
            <a:r>
              <a:rPr sz="1600" dirty="0" err="1">
                <a:solidFill>
                  <a:srgbClr val="E6EDF3"/>
                </a:solidFill>
              </a:rPr>
              <a:t>scipy.stats.pearsonr</a:t>
            </a:r>
            <a:r>
              <a:rPr sz="1600" dirty="0">
                <a:solidFill>
                  <a:srgbClr val="E6EDF3"/>
                </a:solidFill>
              </a:rPr>
              <a:t>` to scan the historical arrays.</a:t>
            </a:r>
            <a:endParaRPr lang="en-US" sz="1600" dirty="0">
              <a:solidFill>
                <a:srgbClr val="E6EDF3"/>
              </a:solidFill>
            </a:endParaRPr>
          </a:p>
          <a:p>
            <a:pPr>
              <a:lnSpc>
                <a:spcPct val="300000"/>
              </a:lnSpc>
              <a:spcBef>
                <a:spcPts val="400"/>
              </a:spcBef>
            </a:pPr>
            <a:r>
              <a:rPr sz="1600" dirty="0">
                <a:solidFill>
                  <a:srgbClr val="E6EDF3"/>
                </a:solidFill>
              </a:rPr>
              <a:t>• The Loop: A sliding window moves across 5 years of daily closing data, calculating the correlation coefficient against the current 30-day normalized array.</a:t>
            </a:r>
            <a:endParaRPr lang="en-US" sz="1600" dirty="0">
              <a:solidFill>
                <a:srgbClr val="E6EDF3"/>
              </a:solidFill>
            </a:endParaRPr>
          </a:p>
          <a:p>
            <a:pPr>
              <a:lnSpc>
                <a:spcPct val="300000"/>
              </a:lnSpc>
              <a:spcBef>
                <a:spcPts val="400"/>
              </a:spcBef>
            </a:pPr>
            <a:r>
              <a:rPr sz="1600" dirty="0">
                <a:solidFill>
                  <a:srgbClr val="E6EDF3"/>
                </a:solidFill>
              </a:rPr>
              <a:t>• The Output: The algorithm returns the index with the maximal correlation score (e.g., `0.92`), allowing the UI to plot the exact historical match.</a:t>
            </a:r>
          </a:p>
        </p:txBody>
      </p:sp>
      <p:sp>
        <p:nvSpPr>
          <p:cNvPr id="7" name="TextBox 6"/>
          <p:cNvSpPr txBox="1"/>
          <p:nvPr/>
        </p:nvSpPr>
        <p:spPr>
          <a:xfrm>
            <a:off x="8686800" y="6309360"/>
            <a:ext cx="3200400" cy="365760"/>
          </a:xfrm>
          <a:prstGeom prst="rect">
            <a:avLst/>
          </a:prstGeom>
          <a:noFill/>
        </p:spPr>
        <p:txBody>
          <a:bodyPr wrap="none">
            <a:spAutoFit/>
          </a:bodyPr>
          <a:lstStyle/>
          <a:p>
            <a:pPr algn="r"/>
            <a:r>
              <a:rPr sz="900" i="1">
                <a:solidFill>
                  <a:srgbClr val="CCCCCC"/>
                </a:solidFill>
              </a:rPr>
              <a:t>Zentai Networks — Capstone 2025</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D1117"/>
          </a:solidFill>
          <a:ln>
            <a:solidFill>
              <a:srgbClr val="0D111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182880"/>
            <a:ext cx="1371600" cy="365760"/>
          </a:xfrm>
          <a:prstGeom prst="rect">
            <a:avLst/>
          </a:prstGeom>
          <a:noFill/>
        </p:spPr>
        <p:txBody>
          <a:bodyPr wrap="none">
            <a:spAutoFit/>
          </a:bodyPr>
          <a:lstStyle/>
          <a:p>
            <a:r>
              <a:rPr sz="1000" b="1">
                <a:solidFill>
                  <a:srgbClr val="00E5FF"/>
                </a:solidFill>
              </a:rPr>
              <a:t>  21 / 28  </a:t>
            </a:r>
          </a:p>
        </p:txBody>
      </p:sp>
      <p:sp>
        <p:nvSpPr>
          <p:cNvPr id="4" name="TextBox 3"/>
          <p:cNvSpPr txBox="1"/>
          <p:nvPr/>
        </p:nvSpPr>
        <p:spPr>
          <a:xfrm>
            <a:off x="457200" y="320040"/>
            <a:ext cx="11274552" cy="1005840"/>
          </a:xfrm>
          <a:prstGeom prst="rect">
            <a:avLst/>
          </a:prstGeom>
          <a:noFill/>
        </p:spPr>
        <p:txBody>
          <a:bodyPr wrap="square">
            <a:spAutoFit/>
          </a:bodyPr>
          <a:lstStyle/>
          <a:p>
            <a:pPr algn="l"/>
            <a:r>
              <a:rPr sz="3400" b="1">
                <a:solidFill>
                  <a:srgbClr val="00E5FF"/>
                </a:solidFill>
              </a:rPr>
              <a:t>20. The Predictive Shadow &amp; Candlesticks</a:t>
            </a:r>
          </a:p>
        </p:txBody>
      </p:sp>
      <p:sp>
        <p:nvSpPr>
          <p:cNvPr id="5" name="Rectangle 4"/>
          <p:cNvSpPr/>
          <p:nvPr/>
        </p:nvSpPr>
        <p:spPr>
          <a:xfrm>
            <a:off x="457200" y="1371600"/>
            <a:ext cx="11274552" cy="25400"/>
          </a:xfrm>
          <a:prstGeom prst="rect">
            <a:avLst/>
          </a:prstGeom>
          <a:solidFill>
            <a:srgbClr val="00E5FF"/>
          </a:solidFill>
          <a:ln>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1508760"/>
            <a:ext cx="11274552" cy="2229072"/>
          </a:xfrm>
          <a:prstGeom prst="rect">
            <a:avLst/>
          </a:prstGeom>
          <a:noFill/>
        </p:spPr>
        <p:txBody>
          <a:bodyPr wrap="square">
            <a:spAutoFit/>
          </a:bodyPr>
          <a:lstStyle/>
          <a:p>
            <a:pPr>
              <a:lnSpc>
                <a:spcPct val="300000"/>
              </a:lnSpc>
              <a:spcBef>
                <a:spcPts val="400"/>
              </a:spcBef>
            </a:pPr>
            <a:r>
              <a:rPr sz="1600" dirty="0">
                <a:solidFill>
                  <a:srgbClr val="E6EDF3"/>
                </a:solidFill>
              </a:rPr>
              <a:t>• OHLC Rendering: The engine extracts full Open, High, Low, Close arrays to render professional Plotly Candlestick charts.</a:t>
            </a:r>
            <a:endParaRPr lang="en-US" sz="1600" dirty="0">
              <a:solidFill>
                <a:srgbClr val="E6EDF3"/>
              </a:solidFill>
            </a:endParaRPr>
          </a:p>
          <a:p>
            <a:pPr>
              <a:lnSpc>
                <a:spcPct val="300000"/>
              </a:lnSpc>
              <a:spcBef>
                <a:spcPts val="400"/>
              </a:spcBef>
            </a:pPr>
            <a:r>
              <a:rPr sz="1600" dirty="0">
                <a:solidFill>
                  <a:srgbClr val="E6EDF3"/>
                </a:solidFill>
              </a:rPr>
              <a:t>• The Shadow: The algorithm explicitly calculates the percentage return in the 30 days immediately following the historical match index, providing a statistical baseline projection for the coming month.</a:t>
            </a:r>
          </a:p>
        </p:txBody>
      </p:sp>
      <p:sp>
        <p:nvSpPr>
          <p:cNvPr id="7" name="TextBox 6"/>
          <p:cNvSpPr txBox="1"/>
          <p:nvPr/>
        </p:nvSpPr>
        <p:spPr>
          <a:xfrm>
            <a:off x="8686800" y="6309360"/>
            <a:ext cx="3200400" cy="365760"/>
          </a:xfrm>
          <a:prstGeom prst="rect">
            <a:avLst/>
          </a:prstGeom>
          <a:noFill/>
        </p:spPr>
        <p:txBody>
          <a:bodyPr wrap="none">
            <a:spAutoFit/>
          </a:bodyPr>
          <a:lstStyle/>
          <a:p>
            <a:pPr algn="r"/>
            <a:r>
              <a:rPr sz="900" i="1">
                <a:solidFill>
                  <a:srgbClr val="CCCCCC"/>
                </a:solidFill>
              </a:rPr>
              <a:t>Zentai Networks — Capstone 2025</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D1117"/>
          </a:solidFill>
          <a:ln>
            <a:solidFill>
              <a:srgbClr val="0D111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182880"/>
            <a:ext cx="1371600" cy="365760"/>
          </a:xfrm>
          <a:prstGeom prst="rect">
            <a:avLst/>
          </a:prstGeom>
          <a:noFill/>
        </p:spPr>
        <p:txBody>
          <a:bodyPr wrap="none">
            <a:spAutoFit/>
          </a:bodyPr>
          <a:lstStyle/>
          <a:p>
            <a:r>
              <a:rPr sz="1000" b="1">
                <a:solidFill>
                  <a:srgbClr val="00E5FF"/>
                </a:solidFill>
              </a:rPr>
              <a:t>  22 / 28  </a:t>
            </a:r>
          </a:p>
        </p:txBody>
      </p:sp>
      <p:sp>
        <p:nvSpPr>
          <p:cNvPr id="4" name="TextBox 3"/>
          <p:cNvSpPr txBox="1"/>
          <p:nvPr/>
        </p:nvSpPr>
        <p:spPr>
          <a:xfrm>
            <a:off x="457200" y="320040"/>
            <a:ext cx="11274552" cy="1005840"/>
          </a:xfrm>
          <a:prstGeom prst="rect">
            <a:avLst/>
          </a:prstGeom>
          <a:noFill/>
        </p:spPr>
        <p:txBody>
          <a:bodyPr wrap="square">
            <a:spAutoFit/>
          </a:bodyPr>
          <a:lstStyle/>
          <a:p>
            <a:pPr algn="l"/>
            <a:r>
              <a:rPr sz="3400" b="1">
                <a:solidFill>
                  <a:srgbClr val="00E5FF"/>
                </a:solidFill>
              </a:rPr>
              <a:t>21. Engine 7: Market Intelligence</a:t>
            </a:r>
          </a:p>
        </p:txBody>
      </p:sp>
      <p:sp>
        <p:nvSpPr>
          <p:cNvPr id="5" name="Rectangle 4"/>
          <p:cNvSpPr/>
          <p:nvPr/>
        </p:nvSpPr>
        <p:spPr>
          <a:xfrm>
            <a:off x="457200" y="1371600"/>
            <a:ext cx="11274552" cy="25400"/>
          </a:xfrm>
          <a:prstGeom prst="rect">
            <a:avLst/>
          </a:prstGeom>
          <a:solidFill>
            <a:srgbClr val="00E5FF"/>
          </a:solidFill>
          <a:ln>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1508760"/>
            <a:ext cx="11274552" cy="2229072"/>
          </a:xfrm>
          <a:prstGeom prst="rect">
            <a:avLst/>
          </a:prstGeom>
          <a:noFill/>
        </p:spPr>
        <p:txBody>
          <a:bodyPr wrap="square">
            <a:spAutoFit/>
          </a:bodyPr>
          <a:lstStyle/>
          <a:p>
            <a:pPr>
              <a:lnSpc>
                <a:spcPct val="300000"/>
              </a:lnSpc>
              <a:spcBef>
                <a:spcPts val="400"/>
              </a:spcBef>
            </a:pPr>
            <a:r>
              <a:rPr sz="1600" dirty="0">
                <a:solidFill>
                  <a:srgbClr val="E6EDF3"/>
                </a:solidFill>
              </a:rPr>
              <a:t>• Options Flow (Derivatives): The engine scrapes live Put/Call volume sizes.</a:t>
            </a:r>
            <a:endParaRPr lang="en-US" sz="1600" dirty="0">
              <a:solidFill>
                <a:srgbClr val="E6EDF3"/>
              </a:solidFill>
            </a:endParaRPr>
          </a:p>
          <a:p>
            <a:pPr>
              <a:lnSpc>
                <a:spcPct val="300000"/>
              </a:lnSpc>
              <a:spcBef>
                <a:spcPts val="400"/>
              </a:spcBef>
            </a:pPr>
            <a:r>
              <a:rPr sz="1600" dirty="0">
                <a:solidFill>
                  <a:srgbClr val="E6EDF3"/>
                </a:solidFill>
              </a:rPr>
              <a:t>• Demographic Simulation: Because exchanges do not broadcast IP addresses, the algorithm simulates Institutional vs Retail capital originations. Very high volume blocks are mathematically weighted toward Institutional hubs (e.g., Hedge Funds in New York).</a:t>
            </a:r>
          </a:p>
        </p:txBody>
      </p:sp>
      <p:sp>
        <p:nvSpPr>
          <p:cNvPr id="7" name="TextBox 6"/>
          <p:cNvSpPr txBox="1"/>
          <p:nvPr/>
        </p:nvSpPr>
        <p:spPr>
          <a:xfrm>
            <a:off x="8686800" y="6309360"/>
            <a:ext cx="3200400" cy="365760"/>
          </a:xfrm>
          <a:prstGeom prst="rect">
            <a:avLst/>
          </a:prstGeom>
          <a:noFill/>
        </p:spPr>
        <p:txBody>
          <a:bodyPr wrap="none">
            <a:spAutoFit/>
          </a:bodyPr>
          <a:lstStyle/>
          <a:p>
            <a:pPr algn="r"/>
            <a:r>
              <a:rPr sz="900" i="1">
                <a:solidFill>
                  <a:srgbClr val="CCCCCC"/>
                </a:solidFill>
              </a:rPr>
              <a:t>Zentai Networks — Capstone 2025</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D1117"/>
          </a:solidFill>
          <a:ln>
            <a:solidFill>
              <a:srgbClr val="0D111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182880"/>
            <a:ext cx="1371600" cy="365760"/>
          </a:xfrm>
          <a:prstGeom prst="rect">
            <a:avLst/>
          </a:prstGeom>
          <a:noFill/>
        </p:spPr>
        <p:txBody>
          <a:bodyPr wrap="none">
            <a:spAutoFit/>
          </a:bodyPr>
          <a:lstStyle/>
          <a:p>
            <a:r>
              <a:rPr sz="1000" b="1">
                <a:solidFill>
                  <a:srgbClr val="00E5FF"/>
                </a:solidFill>
              </a:rPr>
              <a:t>  23 / 28  </a:t>
            </a:r>
          </a:p>
        </p:txBody>
      </p:sp>
      <p:sp>
        <p:nvSpPr>
          <p:cNvPr id="4" name="TextBox 3"/>
          <p:cNvSpPr txBox="1"/>
          <p:nvPr/>
        </p:nvSpPr>
        <p:spPr>
          <a:xfrm>
            <a:off x="457200" y="320040"/>
            <a:ext cx="11274552" cy="1005840"/>
          </a:xfrm>
          <a:prstGeom prst="rect">
            <a:avLst/>
          </a:prstGeom>
          <a:noFill/>
        </p:spPr>
        <p:txBody>
          <a:bodyPr wrap="square">
            <a:spAutoFit/>
          </a:bodyPr>
          <a:lstStyle/>
          <a:p>
            <a:pPr algn="l"/>
            <a:r>
              <a:rPr sz="3400" b="1">
                <a:solidFill>
                  <a:srgbClr val="00E5FF"/>
                </a:solidFill>
              </a:rPr>
              <a:t>22. Engine 8: Sector War-Room</a:t>
            </a:r>
          </a:p>
        </p:txBody>
      </p:sp>
      <p:sp>
        <p:nvSpPr>
          <p:cNvPr id="5" name="Rectangle 4"/>
          <p:cNvSpPr/>
          <p:nvPr/>
        </p:nvSpPr>
        <p:spPr>
          <a:xfrm>
            <a:off x="457200" y="1371600"/>
            <a:ext cx="11274552" cy="25400"/>
          </a:xfrm>
          <a:prstGeom prst="rect">
            <a:avLst/>
          </a:prstGeom>
          <a:solidFill>
            <a:srgbClr val="00E5FF"/>
          </a:solidFill>
          <a:ln>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1508760"/>
            <a:ext cx="11274552" cy="2229072"/>
          </a:xfrm>
          <a:prstGeom prst="rect">
            <a:avLst/>
          </a:prstGeom>
          <a:noFill/>
        </p:spPr>
        <p:txBody>
          <a:bodyPr wrap="square">
            <a:spAutoFit/>
          </a:bodyPr>
          <a:lstStyle/>
          <a:p>
            <a:pPr>
              <a:lnSpc>
                <a:spcPct val="300000"/>
              </a:lnSpc>
              <a:spcBef>
                <a:spcPts val="400"/>
              </a:spcBef>
            </a:pPr>
            <a:r>
              <a:rPr sz="1600" dirty="0">
                <a:solidFill>
                  <a:srgbClr val="E6EDF3"/>
                </a:solidFill>
              </a:rPr>
              <a:t>• Multi-Dimensional Comparison: Comparing companies solely on price is fundamentally flawed.</a:t>
            </a:r>
            <a:endParaRPr lang="en-US" sz="1600" dirty="0">
              <a:solidFill>
                <a:srgbClr val="E6EDF3"/>
              </a:solidFill>
            </a:endParaRPr>
          </a:p>
          <a:p>
            <a:pPr>
              <a:lnSpc>
                <a:spcPct val="300000"/>
              </a:lnSpc>
              <a:spcBef>
                <a:spcPts val="400"/>
              </a:spcBef>
            </a:pPr>
            <a:r>
              <a:rPr sz="1600" dirty="0">
                <a:solidFill>
                  <a:srgbClr val="E6EDF3"/>
                </a:solidFill>
              </a:rPr>
              <a:t>• Radar Charts: We use Plotly Polar Radar charts to visualize multi-dimensional superiority, plotting normalized vectors for Margin Health, Sentiment, Yield, and Volatility simultaneously.</a:t>
            </a:r>
          </a:p>
        </p:txBody>
      </p:sp>
      <p:sp>
        <p:nvSpPr>
          <p:cNvPr id="7" name="TextBox 6"/>
          <p:cNvSpPr txBox="1"/>
          <p:nvPr/>
        </p:nvSpPr>
        <p:spPr>
          <a:xfrm>
            <a:off x="8686800" y="6309360"/>
            <a:ext cx="3200400" cy="365760"/>
          </a:xfrm>
          <a:prstGeom prst="rect">
            <a:avLst/>
          </a:prstGeom>
          <a:noFill/>
        </p:spPr>
        <p:txBody>
          <a:bodyPr wrap="none">
            <a:spAutoFit/>
          </a:bodyPr>
          <a:lstStyle/>
          <a:p>
            <a:pPr algn="r"/>
            <a:r>
              <a:rPr sz="900" i="1">
                <a:solidFill>
                  <a:srgbClr val="CCCCCC"/>
                </a:solidFill>
              </a:rPr>
              <a:t>Zentai Networks — Capstone 2025</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D1117"/>
          </a:solidFill>
          <a:ln>
            <a:solidFill>
              <a:srgbClr val="0D111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182880"/>
            <a:ext cx="1371600" cy="365760"/>
          </a:xfrm>
          <a:prstGeom prst="rect">
            <a:avLst/>
          </a:prstGeom>
          <a:noFill/>
        </p:spPr>
        <p:txBody>
          <a:bodyPr wrap="none">
            <a:spAutoFit/>
          </a:bodyPr>
          <a:lstStyle/>
          <a:p>
            <a:r>
              <a:rPr sz="1000" b="1">
                <a:solidFill>
                  <a:srgbClr val="00E5FF"/>
                </a:solidFill>
              </a:rPr>
              <a:t>  24 / 28  </a:t>
            </a:r>
          </a:p>
        </p:txBody>
      </p:sp>
      <p:sp>
        <p:nvSpPr>
          <p:cNvPr id="4" name="TextBox 3"/>
          <p:cNvSpPr txBox="1"/>
          <p:nvPr/>
        </p:nvSpPr>
        <p:spPr>
          <a:xfrm>
            <a:off x="457200" y="320040"/>
            <a:ext cx="11274552" cy="1005840"/>
          </a:xfrm>
          <a:prstGeom prst="rect">
            <a:avLst/>
          </a:prstGeom>
          <a:noFill/>
        </p:spPr>
        <p:txBody>
          <a:bodyPr wrap="square">
            <a:spAutoFit/>
          </a:bodyPr>
          <a:lstStyle/>
          <a:p>
            <a:pPr algn="l"/>
            <a:r>
              <a:rPr sz="3400" b="1">
                <a:solidFill>
                  <a:srgbClr val="00E5FF"/>
                </a:solidFill>
              </a:rPr>
              <a:t>23. Capstone Rubric Alignment (Part 1)</a:t>
            </a:r>
          </a:p>
        </p:txBody>
      </p:sp>
      <p:sp>
        <p:nvSpPr>
          <p:cNvPr id="5" name="Rectangle 4"/>
          <p:cNvSpPr/>
          <p:nvPr/>
        </p:nvSpPr>
        <p:spPr>
          <a:xfrm>
            <a:off x="457200" y="1371600"/>
            <a:ext cx="11274552" cy="25400"/>
          </a:xfrm>
          <a:prstGeom prst="rect">
            <a:avLst/>
          </a:prstGeom>
          <a:solidFill>
            <a:srgbClr val="00E5FF"/>
          </a:solidFill>
          <a:ln>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1508760"/>
            <a:ext cx="11274552" cy="3093026"/>
          </a:xfrm>
          <a:prstGeom prst="rect">
            <a:avLst/>
          </a:prstGeom>
          <a:noFill/>
        </p:spPr>
        <p:txBody>
          <a:bodyPr wrap="square">
            <a:spAutoFit/>
          </a:bodyPr>
          <a:lstStyle/>
          <a:p>
            <a:pPr>
              <a:lnSpc>
                <a:spcPct val="300000"/>
              </a:lnSpc>
            </a:pPr>
            <a:r>
              <a:rPr sz="1700" dirty="0">
                <a:solidFill>
                  <a:srgbClr val="E6EDF3"/>
                </a:solidFill>
              </a:rPr>
              <a:t>Objective  |  Engineering Solution  </a:t>
            </a:r>
          </a:p>
          <a:p>
            <a:pPr>
              <a:lnSpc>
                <a:spcPct val="300000"/>
              </a:lnSpc>
            </a:pPr>
            <a:r>
              <a:rPr sz="1700" dirty="0">
                <a:solidFill>
                  <a:srgbClr val="E6EDF3"/>
                </a:solidFill>
              </a:rPr>
              <a:t>1. Decision Support  |  Implemented via the Multi-AI Directive and Executive NLP Chatbot.  </a:t>
            </a:r>
          </a:p>
          <a:p>
            <a:pPr>
              <a:lnSpc>
                <a:spcPct val="300000"/>
              </a:lnSpc>
            </a:pPr>
            <a:r>
              <a:rPr sz="1700" dirty="0">
                <a:solidFill>
                  <a:srgbClr val="E6EDF3"/>
                </a:solidFill>
              </a:rPr>
              <a:t>2. Unified Health Score  |  Algorithmic aggregation of Risk, Strategy, &amp; Financial vectors.  </a:t>
            </a:r>
          </a:p>
          <a:p>
            <a:pPr>
              <a:lnSpc>
                <a:spcPct val="300000"/>
              </a:lnSpc>
            </a:pPr>
            <a:r>
              <a:rPr sz="1700" dirty="0">
                <a:solidFill>
                  <a:srgbClr val="E6EDF3"/>
                </a:solidFill>
              </a:rPr>
              <a:t>3. Forward-Looking Insights  |  Engineered via DCF Valuation and Pearson Correlation matchers.  </a:t>
            </a:r>
          </a:p>
        </p:txBody>
      </p:sp>
      <p:sp>
        <p:nvSpPr>
          <p:cNvPr id="7" name="TextBox 6"/>
          <p:cNvSpPr txBox="1"/>
          <p:nvPr/>
        </p:nvSpPr>
        <p:spPr>
          <a:xfrm>
            <a:off x="8686800" y="6309360"/>
            <a:ext cx="3200400" cy="365760"/>
          </a:xfrm>
          <a:prstGeom prst="rect">
            <a:avLst/>
          </a:prstGeom>
          <a:noFill/>
        </p:spPr>
        <p:txBody>
          <a:bodyPr wrap="none">
            <a:spAutoFit/>
          </a:bodyPr>
          <a:lstStyle/>
          <a:p>
            <a:pPr algn="r"/>
            <a:r>
              <a:rPr sz="900" i="1">
                <a:solidFill>
                  <a:srgbClr val="CCCCCC"/>
                </a:solidFill>
              </a:rPr>
              <a:t>Zentai Networks — Capstone 2025</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D1117"/>
          </a:solidFill>
          <a:ln>
            <a:solidFill>
              <a:srgbClr val="0D111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182880"/>
            <a:ext cx="1371600" cy="365760"/>
          </a:xfrm>
          <a:prstGeom prst="rect">
            <a:avLst/>
          </a:prstGeom>
          <a:noFill/>
        </p:spPr>
        <p:txBody>
          <a:bodyPr wrap="none">
            <a:spAutoFit/>
          </a:bodyPr>
          <a:lstStyle/>
          <a:p>
            <a:r>
              <a:rPr sz="1000" b="1">
                <a:solidFill>
                  <a:srgbClr val="00E5FF"/>
                </a:solidFill>
              </a:rPr>
              <a:t>  25 / 28  </a:t>
            </a:r>
          </a:p>
        </p:txBody>
      </p:sp>
      <p:sp>
        <p:nvSpPr>
          <p:cNvPr id="4" name="TextBox 3"/>
          <p:cNvSpPr txBox="1"/>
          <p:nvPr/>
        </p:nvSpPr>
        <p:spPr>
          <a:xfrm>
            <a:off x="457200" y="320040"/>
            <a:ext cx="11274552" cy="1005840"/>
          </a:xfrm>
          <a:prstGeom prst="rect">
            <a:avLst/>
          </a:prstGeom>
          <a:noFill/>
        </p:spPr>
        <p:txBody>
          <a:bodyPr wrap="square">
            <a:spAutoFit/>
          </a:bodyPr>
          <a:lstStyle/>
          <a:p>
            <a:pPr algn="l"/>
            <a:r>
              <a:rPr sz="3400" b="1">
                <a:solidFill>
                  <a:srgbClr val="00E5FF"/>
                </a:solidFill>
              </a:rPr>
              <a:t>24. Capstone Rubric Alignment (Part 2)</a:t>
            </a:r>
          </a:p>
        </p:txBody>
      </p:sp>
      <p:sp>
        <p:nvSpPr>
          <p:cNvPr id="5" name="Rectangle 4"/>
          <p:cNvSpPr/>
          <p:nvPr/>
        </p:nvSpPr>
        <p:spPr>
          <a:xfrm>
            <a:off x="457200" y="1371600"/>
            <a:ext cx="11274552" cy="25400"/>
          </a:xfrm>
          <a:prstGeom prst="rect">
            <a:avLst/>
          </a:prstGeom>
          <a:solidFill>
            <a:srgbClr val="00E5FF"/>
          </a:solidFill>
          <a:ln>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1508760"/>
            <a:ext cx="11274552" cy="3093026"/>
          </a:xfrm>
          <a:prstGeom prst="rect">
            <a:avLst/>
          </a:prstGeom>
          <a:noFill/>
        </p:spPr>
        <p:txBody>
          <a:bodyPr wrap="square">
            <a:spAutoFit/>
          </a:bodyPr>
          <a:lstStyle/>
          <a:p>
            <a:pPr>
              <a:lnSpc>
                <a:spcPct val="300000"/>
              </a:lnSpc>
            </a:pPr>
            <a:r>
              <a:rPr sz="1700" dirty="0">
                <a:solidFill>
                  <a:srgbClr val="E6EDF3"/>
                </a:solidFill>
              </a:rPr>
              <a:t>Objective  |  Engineering Solution  </a:t>
            </a:r>
          </a:p>
          <a:p>
            <a:pPr>
              <a:lnSpc>
                <a:spcPct val="300000"/>
              </a:lnSpc>
            </a:pPr>
            <a:r>
              <a:rPr sz="1700" dirty="0">
                <a:solidFill>
                  <a:srgbClr val="E6EDF3"/>
                </a:solidFill>
              </a:rPr>
              <a:t>4. Operational Optimization  |  Implemented via the Haversine Supply Chain Geospatial Heatmap.  </a:t>
            </a:r>
          </a:p>
          <a:p>
            <a:pPr>
              <a:lnSpc>
                <a:spcPct val="300000"/>
              </a:lnSpc>
            </a:pPr>
            <a:r>
              <a:rPr sz="1700" dirty="0">
                <a:solidFill>
                  <a:srgbClr val="E6EDF3"/>
                </a:solidFill>
              </a:rPr>
              <a:t>5. Strategic Planning  |  Engineered via the Markowitz Portfolio Optimizer and </a:t>
            </a:r>
            <a:r>
              <a:rPr sz="1700" dirty="0" err="1">
                <a:solidFill>
                  <a:srgbClr val="E6EDF3"/>
                </a:solidFill>
              </a:rPr>
              <a:t>Backtester</a:t>
            </a:r>
            <a:r>
              <a:rPr sz="1700" dirty="0">
                <a:solidFill>
                  <a:srgbClr val="E6EDF3"/>
                </a:solidFill>
              </a:rPr>
              <a:t>.  </a:t>
            </a:r>
          </a:p>
          <a:p>
            <a:pPr>
              <a:lnSpc>
                <a:spcPct val="300000"/>
              </a:lnSpc>
            </a:pPr>
            <a:r>
              <a:rPr sz="1700" dirty="0">
                <a:solidFill>
                  <a:srgbClr val="E6EDF3"/>
                </a:solidFill>
              </a:rPr>
              <a:t>6. Reduce Uncertainty  |  Achieved by seamlessly aggregating disparate data into a centralized </a:t>
            </a:r>
            <a:r>
              <a:rPr sz="1700" dirty="0" err="1">
                <a:solidFill>
                  <a:srgbClr val="E6EDF3"/>
                </a:solidFill>
              </a:rPr>
              <a:t>Streamlit</a:t>
            </a:r>
            <a:r>
              <a:rPr sz="1700" dirty="0">
                <a:solidFill>
                  <a:srgbClr val="E6EDF3"/>
                </a:solidFill>
              </a:rPr>
              <a:t> UI.  </a:t>
            </a:r>
          </a:p>
        </p:txBody>
      </p:sp>
      <p:sp>
        <p:nvSpPr>
          <p:cNvPr id="7" name="TextBox 6"/>
          <p:cNvSpPr txBox="1"/>
          <p:nvPr/>
        </p:nvSpPr>
        <p:spPr>
          <a:xfrm>
            <a:off x="8686800" y="6309360"/>
            <a:ext cx="3200400" cy="365760"/>
          </a:xfrm>
          <a:prstGeom prst="rect">
            <a:avLst/>
          </a:prstGeom>
          <a:noFill/>
        </p:spPr>
        <p:txBody>
          <a:bodyPr wrap="none">
            <a:spAutoFit/>
          </a:bodyPr>
          <a:lstStyle/>
          <a:p>
            <a:pPr algn="r"/>
            <a:r>
              <a:rPr sz="900" i="1">
                <a:solidFill>
                  <a:srgbClr val="CCCCCC"/>
                </a:solidFill>
              </a:rPr>
              <a:t>Zentai Networks — Capstone 2025</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D1117"/>
          </a:solidFill>
          <a:ln>
            <a:solidFill>
              <a:srgbClr val="0D111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182880"/>
            <a:ext cx="1371600" cy="365760"/>
          </a:xfrm>
          <a:prstGeom prst="rect">
            <a:avLst/>
          </a:prstGeom>
          <a:noFill/>
        </p:spPr>
        <p:txBody>
          <a:bodyPr wrap="none">
            <a:spAutoFit/>
          </a:bodyPr>
          <a:lstStyle/>
          <a:p>
            <a:r>
              <a:rPr sz="1000" b="1">
                <a:solidFill>
                  <a:srgbClr val="00E5FF"/>
                </a:solidFill>
              </a:rPr>
              <a:t>  26 / 28  </a:t>
            </a:r>
          </a:p>
        </p:txBody>
      </p:sp>
      <p:sp>
        <p:nvSpPr>
          <p:cNvPr id="4" name="TextBox 3"/>
          <p:cNvSpPr txBox="1"/>
          <p:nvPr/>
        </p:nvSpPr>
        <p:spPr>
          <a:xfrm>
            <a:off x="457200" y="320040"/>
            <a:ext cx="11274552" cy="1005840"/>
          </a:xfrm>
          <a:prstGeom prst="rect">
            <a:avLst/>
          </a:prstGeom>
          <a:noFill/>
        </p:spPr>
        <p:txBody>
          <a:bodyPr wrap="square">
            <a:spAutoFit/>
          </a:bodyPr>
          <a:lstStyle/>
          <a:p>
            <a:pPr algn="l"/>
            <a:r>
              <a:rPr sz="3400" b="1">
                <a:solidFill>
                  <a:srgbClr val="00E5FF"/>
                </a:solidFill>
              </a:rPr>
              <a:t>25. Deployment &amp; DevOps</a:t>
            </a:r>
          </a:p>
        </p:txBody>
      </p:sp>
      <p:sp>
        <p:nvSpPr>
          <p:cNvPr id="5" name="Rectangle 4"/>
          <p:cNvSpPr/>
          <p:nvPr/>
        </p:nvSpPr>
        <p:spPr>
          <a:xfrm>
            <a:off x="457200" y="1371600"/>
            <a:ext cx="11274552" cy="25400"/>
          </a:xfrm>
          <a:prstGeom prst="rect">
            <a:avLst/>
          </a:prstGeom>
          <a:solidFill>
            <a:srgbClr val="00E5FF"/>
          </a:solidFill>
          <a:ln>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1508760"/>
            <a:ext cx="11274552" cy="2967736"/>
          </a:xfrm>
          <a:prstGeom prst="rect">
            <a:avLst/>
          </a:prstGeom>
          <a:noFill/>
        </p:spPr>
        <p:txBody>
          <a:bodyPr wrap="square">
            <a:spAutoFit/>
          </a:bodyPr>
          <a:lstStyle/>
          <a:p>
            <a:pPr>
              <a:lnSpc>
                <a:spcPct val="300000"/>
              </a:lnSpc>
              <a:spcBef>
                <a:spcPts val="400"/>
              </a:spcBef>
            </a:pPr>
            <a:r>
              <a:rPr sz="1600" dirty="0">
                <a:solidFill>
                  <a:srgbClr val="E6EDF3"/>
                </a:solidFill>
              </a:rPr>
              <a:t>• Package Management: The system uses `</a:t>
            </a:r>
            <a:r>
              <a:rPr sz="1600" dirty="0" err="1">
                <a:solidFill>
                  <a:srgbClr val="E6EDF3"/>
                </a:solidFill>
              </a:rPr>
              <a:t>uv</a:t>
            </a:r>
            <a:r>
              <a:rPr sz="1600" dirty="0">
                <a:solidFill>
                  <a:srgbClr val="E6EDF3"/>
                </a:solidFill>
              </a:rPr>
              <a:t>` and `</a:t>
            </a:r>
            <a:r>
              <a:rPr sz="1600" dirty="0" err="1">
                <a:solidFill>
                  <a:srgbClr val="E6EDF3"/>
                </a:solidFill>
              </a:rPr>
              <a:t>requirements.txt</a:t>
            </a:r>
            <a:r>
              <a:rPr sz="1600" dirty="0">
                <a:solidFill>
                  <a:srgbClr val="E6EDF3"/>
                </a:solidFill>
              </a:rPr>
              <a:t>` to strictly pin dependencies (e.g., `pandas==2.2.0`), ensuring zero environment drift between local execution and cloud deployment.</a:t>
            </a:r>
            <a:endParaRPr lang="en-US" sz="1600" dirty="0">
              <a:solidFill>
                <a:srgbClr val="E6EDF3"/>
              </a:solidFill>
            </a:endParaRPr>
          </a:p>
          <a:p>
            <a:pPr>
              <a:lnSpc>
                <a:spcPct val="300000"/>
              </a:lnSpc>
              <a:spcBef>
                <a:spcPts val="400"/>
              </a:spcBef>
            </a:pPr>
            <a:r>
              <a:rPr sz="1600" dirty="0">
                <a:solidFill>
                  <a:srgbClr val="E6EDF3"/>
                </a:solidFill>
              </a:rPr>
              <a:t>• Cloud Readiness: The decoupled architecture allows the Pandas engines to be easily containerized via Docker and deployed to AWS EC2 or </a:t>
            </a:r>
            <a:r>
              <a:rPr sz="1600" dirty="0" err="1">
                <a:solidFill>
                  <a:srgbClr val="E6EDF3"/>
                </a:solidFill>
              </a:rPr>
              <a:t>Streamlit</a:t>
            </a:r>
            <a:r>
              <a:rPr sz="1600" dirty="0">
                <a:solidFill>
                  <a:srgbClr val="E6EDF3"/>
                </a:solidFill>
              </a:rPr>
              <a:t> Community Cloud with zero code modifications.</a:t>
            </a:r>
          </a:p>
        </p:txBody>
      </p:sp>
      <p:sp>
        <p:nvSpPr>
          <p:cNvPr id="7" name="TextBox 6"/>
          <p:cNvSpPr txBox="1"/>
          <p:nvPr/>
        </p:nvSpPr>
        <p:spPr>
          <a:xfrm>
            <a:off x="8686800" y="6309360"/>
            <a:ext cx="3200400" cy="365760"/>
          </a:xfrm>
          <a:prstGeom prst="rect">
            <a:avLst/>
          </a:prstGeom>
          <a:noFill/>
        </p:spPr>
        <p:txBody>
          <a:bodyPr wrap="none">
            <a:spAutoFit/>
          </a:bodyPr>
          <a:lstStyle/>
          <a:p>
            <a:pPr algn="r"/>
            <a:r>
              <a:rPr sz="900" i="1">
                <a:solidFill>
                  <a:srgbClr val="CCCCCC"/>
                </a:solidFill>
              </a:rPr>
              <a:t>Zentai Networks — Capstone 2025</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D1117"/>
          </a:solidFill>
          <a:ln>
            <a:solidFill>
              <a:srgbClr val="0D111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182880"/>
            <a:ext cx="1371600" cy="365760"/>
          </a:xfrm>
          <a:prstGeom prst="rect">
            <a:avLst/>
          </a:prstGeom>
          <a:noFill/>
        </p:spPr>
        <p:txBody>
          <a:bodyPr wrap="none">
            <a:spAutoFit/>
          </a:bodyPr>
          <a:lstStyle/>
          <a:p>
            <a:r>
              <a:rPr sz="1000" b="1">
                <a:solidFill>
                  <a:srgbClr val="00E5FF"/>
                </a:solidFill>
              </a:rPr>
              <a:t>  27 / 28  </a:t>
            </a:r>
          </a:p>
        </p:txBody>
      </p:sp>
      <p:sp>
        <p:nvSpPr>
          <p:cNvPr id="4" name="TextBox 3"/>
          <p:cNvSpPr txBox="1"/>
          <p:nvPr/>
        </p:nvSpPr>
        <p:spPr>
          <a:xfrm>
            <a:off x="457200" y="320040"/>
            <a:ext cx="11274552" cy="1005840"/>
          </a:xfrm>
          <a:prstGeom prst="rect">
            <a:avLst/>
          </a:prstGeom>
          <a:noFill/>
        </p:spPr>
        <p:txBody>
          <a:bodyPr wrap="square">
            <a:spAutoFit/>
          </a:bodyPr>
          <a:lstStyle/>
          <a:p>
            <a:pPr algn="l"/>
            <a:r>
              <a:rPr sz="3400" b="1">
                <a:solidFill>
                  <a:srgbClr val="00E5FF"/>
                </a:solidFill>
              </a:rPr>
              <a:t>26. Future Architecture Roadmap</a:t>
            </a:r>
          </a:p>
        </p:txBody>
      </p:sp>
      <p:sp>
        <p:nvSpPr>
          <p:cNvPr id="5" name="Rectangle 4"/>
          <p:cNvSpPr/>
          <p:nvPr/>
        </p:nvSpPr>
        <p:spPr>
          <a:xfrm>
            <a:off x="457200" y="1371600"/>
            <a:ext cx="11274552" cy="25400"/>
          </a:xfrm>
          <a:prstGeom prst="rect">
            <a:avLst/>
          </a:prstGeom>
          <a:solidFill>
            <a:srgbClr val="00E5FF"/>
          </a:solidFill>
          <a:ln>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1508760"/>
            <a:ext cx="11274552" cy="3757695"/>
          </a:xfrm>
          <a:prstGeom prst="rect">
            <a:avLst/>
          </a:prstGeom>
          <a:noFill/>
        </p:spPr>
        <p:txBody>
          <a:bodyPr wrap="square">
            <a:spAutoFit/>
          </a:bodyPr>
          <a:lstStyle/>
          <a:p>
            <a:pPr>
              <a:lnSpc>
                <a:spcPct val="300000"/>
              </a:lnSpc>
              <a:spcBef>
                <a:spcPts val="400"/>
              </a:spcBef>
            </a:pPr>
            <a:r>
              <a:rPr sz="1600" dirty="0">
                <a:solidFill>
                  <a:srgbClr val="E6EDF3"/>
                </a:solidFill>
              </a:rPr>
              <a:t>• Data Persistence: Integrate PostgreSQL to allow users to save custom portfolios, historical </a:t>
            </a:r>
            <a:r>
              <a:rPr sz="1600" dirty="0" err="1">
                <a:solidFill>
                  <a:srgbClr val="E6EDF3"/>
                </a:solidFill>
              </a:rPr>
              <a:t>backtest</a:t>
            </a:r>
            <a:r>
              <a:rPr sz="1600" dirty="0">
                <a:solidFill>
                  <a:srgbClr val="E6EDF3"/>
                </a:solidFill>
              </a:rPr>
              <a:t> logs, and executive notes.</a:t>
            </a:r>
            <a:endParaRPr lang="en-US" sz="1600" dirty="0">
              <a:solidFill>
                <a:srgbClr val="E6EDF3"/>
              </a:solidFill>
            </a:endParaRPr>
          </a:p>
          <a:p>
            <a:pPr>
              <a:lnSpc>
                <a:spcPct val="300000"/>
              </a:lnSpc>
              <a:spcBef>
                <a:spcPts val="400"/>
              </a:spcBef>
            </a:pPr>
            <a:r>
              <a:rPr sz="1600" dirty="0">
                <a:solidFill>
                  <a:srgbClr val="E6EDF3"/>
                </a:solidFill>
              </a:rPr>
              <a:t>• Microsecond Latency: Upgrade the ingestion pipeline from `</a:t>
            </a:r>
            <a:r>
              <a:rPr sz="1600" dirty="0" err="1">
                <a:solidFill>
                  <a:srgbClr val="E6EDF3"/>
                </a:solidFill>
              </a:rPr>
              <a:t>yfinance</a:t>
            </a:r>
            <a:r>
              <a:rPr sz="1600" dirty="0">
                <a:solidFill>
                  <a:srgbClr val="E6EDF3"/>
                </a:solidFill>
              </a:rPr>
              <a:t>` REST APIs to secure WebSocket connections for true, unthrottled tick data.</a:t>
            </a:r>
            <a:endParaRPr lang="en-US" sz="1600" dirty="0">
              <a:solidFill>
                <a:srgbClr val="E6EDF3"/>
              </a:solidFill>
            </a:endParaRPr>
          </a:p>
          <a:p>
            <a:pPr>
              <a:lnSpc>
                <a:spcPct val="300000"/>
              </a:lnSpc>
              <a:spcBef>
                <a:spcPts val="400"/>
              </a:spcBef>
            </a:pPr>
            <a:r>
              <a:rPr sz="1600" dirty="0">
                <a:solidFill>
                  <a:srgbClr val="E6EDF3"/>
                </a:solidFill>
              </a:rPr>
              <a:t>• Automated Execution: Connect the Capital Allocator engine directly to institutional brokerage APIs (like Alpaca) for one-click trade execution.</a:t>
            </a:r>
          </a:p>
        </p:txBody>
      </p:sp>
      <p:sp>
        <p:nvSpPr>
          <p:cNvPr id="7" name="TextBox 6"/>
          <p:cNvSpPr txBox="1"/>
          <p:nvPr/>
        </p:nvSpPr>
        <p:spPr>
          <a:xfrm>
            <a:off x="8686800" y="6309360"/>
            <a:ext cx="3200400" cy="365760"/>
          </a:xfrm>
          <a:prstGeom prst="rect">
            <a:avLst/>
          </a:prstGeom>
          <a:noFill/>
        </p:spPr>
        <p:txBody>
          <a:bodyPr wrap="none">
            <a:spAutoFit/>
          </a:bodyPr>
          <a:lstStyle/>
          <a:p>
            <a:pPr algn="r"/>
            <a:r>
              <a:rPr sz="900" i="1">
                <a:solidFill>
                  <a:srgbClr val="CCCCCC"/>
                </a:solidFill>
              </a:rPr>
              <a:t>Zentai Networks — Capstone 2025</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D1117"/>
          </a:solidFill>
          <a:ln>
            <a:solidFill>
              <a:srgbClr val="0D111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182880"/>
            <a:ext cx="1371600" cy="365760"/>
          </a:xfrm>
          <a:prstGeom prst="rect">
            <a:avLst/>
          </a:prstGeom>
          <a:noFill/>
        </p:spPr>
        <p:txBody>
          <a:bodyPr wrap="none">
            <a:spAutoFit/>
          </a:bodyPr>
          <a:lstStyle/>
          <a:p>
            <a:r>
              <a:rPr sz="1000" b="1">
                <a:solidFill>
                  <a:srgbClr val="00E5FF"/>
                </a:solidFill>
              </a:rPr>
              <a:t>  28 / 28  </a:t>
            </a:r>
          </a:p>
        </p:txBody>
      </p:sp>
      <p:sp>
        <p:nvSpPr>
          <p:cNvPr id="4" name="TextBox 3"/>
          <p:cNvSpPr txBox="1"/>
          <p:nvPr/>
        </p:nvSpPr>
        <p:spPr>
          <a:xfrm>
            <a:off x="457200" y="320040"/>
            <a:ext cx="11274552" cy="1005840"/>
          </a:xfrm>
          <a:prstGeom prst="rect">
            <a:avLst/>
          </a:prstGeom>
          <a:noFill/>
        </p:spPr>
        <p:txBody>
          <a:bodyPr wrap="square">
            <a:spAutoFit/>
          </a:bodyPr>
          <a:lstStyle/>
          <a:p>
            <a:pPr algn="l"/>
            <a:r>
              <a:rPr sz="3400" b="1">
                <a:solidFill>
                  <a:srgbClr val="00E5FF"/>
                </a:solidFill>
              </a:rPr>
              <a:t>27. Conclusion</a:t>
            </a:r>
          </a:p>
        </p:txBody>
      </p:sp>
      <p:sp>
        <p:nvSpPr>
          <p:cNvPr id="5" name="Rectangle 4"/>
          <p:cNvSpPr/>
          <p:nvPr/>
        </p:nvSpPr>
        <p:spPr>
          <a:xfrm>
            <a:off x="457200" y="1371600"/>
            <a:ext cx="11274552" cy="25400"/>
          </a:xfrm>
          <a:prstGeom prst="rect">
            <a:avLst/>
          </a:prstGeom>
          <a:solidFill>
            <a:srgbClr val="00E5FF"/>
          </a:solidFill>
          <a:ln>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1508760"/>
            <a:ext cx="11274552" cy="2308196"/>
          </a:xfrm>
          <a:prstGeom prst="rect">
            <a:avLst/>
          </a:prstGeom>
          <a:noFill/>
        </p:spPr>
        <p:txBody>
          <a:bodyPr wrap="square">
            <a:spAutoFit/>
          </a:bodyPr>
          <a:lstStyle/>
          <a:p>
            <a:pPr>
              <a:lnSpc>
                <a:spcPct val="300000"/>
              </a:lnSpc>
            </a:pPr>
            <a:r>
              <a:rPr sz="1700" dirty="0">
                <a:solidFill>
                  <a:srgbClr val="E6EDF3"/>
                </a:solidFill>
              </a:rPr>
              <a:t>Thank You</a:t>
            </a:r>
          </a:p>
          <a:p>
            <a:pPr>
              <a:lnSpc>
                <a:spcPct val="300000"/>
              </a:lnSpc>
            </a:pPr>
            <a:r>
              <a:rPr sz="1700" dirty="0">
                <a:solidFill>
                  <a:srgbClr val="E6EDF3"/>
                </a:solidFill>
              </a:rPr>
              <a:t>Zentai Networks successfully demonstrates how modern Software Engineering principles and Python data science frameworks can fundamentally transform executive decision-making.</a:t>
            </a:r>
          </a:p>
        </p:txBody>
      </p:sp>
      <p:sp>
        <p:nvSpPr>
          <p:cNvPr id="7" name="TextBox 6"/>
          <p:cNvSpPr txBox="1"/>
          <p:nvPr/>
        </p:nvSpPr>
        <p:spPr>
          <a:xfrm>
            <a:off x="8686800" y="6309360"/>
            <a:ext cx="3200400" cy="365760"/>
          </a:xfrm>
          <a:prstGeom prst="rect">
            <a:avLst/>
          </a:prstGeom>
          <a:noFill/>
        </p:spPr>
        <p:txBody>
          <a:bodyPr wrap="none">
            <a:spAutoFit/>
          </a:bodyPr>
          <a:lstStyle/>
          <a:p>
            <a:pPr algn="r"/>
            <a:r>
              <a:rPr sz="900" i="1">
                <a:solidFill>
                  <a:srgbClr val="CCCCCC"/>
                </a:solidFill>
              </a:rPr>
              <a:t>Zentai Networks — Capstone 2025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14</TotalTime>
  <Words>2189</Words>
  <Application>Microsoft Macintosh PowerPoint</Application>
  <PresentationFormat>Custom</PresentationFormat>
  <Paragraphs>168</Paragraphs>
  <Slides>28</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28</vt:i4>
      </vt:variant>
    </vt:vector>
  </HeadingPairs>
  <TitlesOfParts>
    <vt:vector size="31"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Smit Bhabal</cp:lastModifiedBy>
  <cp:revision>2</cp:revision>
  <dcterms:created xsi:type="dcterms:W3CDTF">2013-01-27T09:14:16Z</dcterms:created>
  <dcterms:modified xsi:type="dcterms:W3CDTF">2026-05-08T20:48:07Z</dcterms:modified>
  <cp:category/>
</cp:coreProperties>
</file>